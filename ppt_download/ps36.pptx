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60" r:id="rId3"/>
    <p:sldId id="256" r:id="rId4"/>
    <p:sldId id="258" r:id="rId5"/>
    <p:sldId id="259" r:id="rId6"/>
    <p:sldId id="296" r:id="rId7"/>
    <p:sldId id="297" r:id="rId8"/>
  </p:sldIdLst>
  <p:sldSz cx="12653963" cy="6858000"/>
  <p:notesSz cx="6858000" cy="126539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0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7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0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1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6700" y="685800"/>
            <a:ext cx="63246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297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6700" y="685800"/>
            <a:ext cx="63246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96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047" y="2130429"/>
            <a:ext cx="10755869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8095" y="3886200"/>
            <a:ext cx="885777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5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4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jpg"/><Relationship Id="rId12" Type="http://schemas.openxmlformats.org/officeDocument/2006/relationships/image" Target="../media/image26.jp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5" Type="http://schemas.openxmlformats.org/officeDocument/2006/relationships/image" Target="../media/image29.png"/><Relationship Id="rId23" Type="http://schemas.openxmlformats.org/officeDocument/2006/relationships/image" Target="../media/image2.png"/><Relationship Id="rId10" Type="http://schemas.openxmlformats.org/officeDocument/2006/relationships/image" Target="../media/image24.jpg"/><Relationship Id="rId19" Type="http://schemas.openxmlformats.org/officeDocument/2006/relationships/image" Target="../media/image33.png"/><Relationship Id="rId4" Type="http://schemas.openxmlformats.org/officeDocument/2006/relationships/image" Target="../media/image18.jpg"/><Relationship Id="rId9" Type="http://schemas.openxmlformats.org/officeDocument/2006/relationships/image" Target="../media/image23.jp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34" Type="http://schemas.openxmlformats.org/officeDocument/2006/relationships/image" Target="../media/image2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8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4981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762" y="851522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85873" y="1715882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6667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267" y="44093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267" y="2076451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8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2102" y="1376301"/>
            <a:ext cx="5271705" cy="46885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3742" y="1364639"/>
            <a:ext cx="5271705" cy="2437581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73741" y="3988827"/>
            <a:ext cx="5283368" cy="20993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4369" y="6330096"/>
            <a:ext cx="12678332" cy="536501"/>
          </a:xfrm>
          <a:prstGeom prst="rect">
            <a:avLst/>
          </a:prstGeom>
          <a:solidFill>
            <a:srgbClr val="016CBA"/>
          </a:solidFill>
          <a:ln w="12700">
            <a:solidFill>
              <a:srgbClr val="016CBA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2128386" y="195169"/>
            <a:ext cx="7452698" cy="64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EVERY TRANSACTION RESTS ON A SCALE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1871799" y="731102"/>
            <a:ext cx="7965873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Verification exists in law, but trust is still kept in files, registers and memory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950417" y="1433029"/>
            <a:ext cx="5396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 lang="en-US" sz="2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985407" y="1425613"/>
            <a:ext cx="1309437" cy="446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 today</a:t>
            </a:r>
          </a:p>
        </p:txBody>
      </p:sp>
      <p:sp>
        <p:nvSpPr>
          <p:cNvPr id="17" name="Text 10"/>
          <p:cNvSpPr txBox="1"/>
          <p:nvPr/>
        </p:nvSpPr>
        <p:spPr>
          <a:xfrm>
            <a:off x="1008516" y="1935625"/>
            <a:ext cx="3618940" cy="363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Problem: </a:t>
            </a:r>
            <a:r>
              <a:rPr lang="en-US" sz="20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Legal Metrology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985407" y="2459379"/>
            <a:ext cx="388055" cy="376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1300308" y="2459379"/>
            <a:ext cx="4738378" cy="7262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Applications and records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 paper or 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isolated local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985407" y="3229142"/>
            <a:ext cx="411381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1323634" y="3229142"/>
            <a:ext cx="4038594" cy="679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single view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 what is verified,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pending or overdue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996854" y="3972415"/>
            <a:ext cx="5589782" cy="434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  </a:t>
            </a:r>
            <a:r>
              <a:rPr lang="en-US" sz="207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Expiry </a:t>
            </a:r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tracked by memory, so lapses go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335298" y="4290481"/>
            <a:ext cx="1428222" cy="361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unnoticed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985406" y="4687024"/>
            <a:ext cx="399718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1311971" y="4695525"/>
            <a:ext cx="4038594" cy="691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55"/>
              </a:lnSpc>
            </a:pPr>
            <a:r>
              <a:rPr lang="en-US" sz="199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 </a:t>
            </a: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cannot check a stamp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55"/>
              </a:lnSpc>
            </a:pP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themselves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508938" y="1496485"/>
            <a:ext cx="1589350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it hurts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6408731" y="1817910"/>
            <a:ext cx="4808356" cy="423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1000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short weight, wrong quantity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6402777" y="2299271"/>
            <a:ext cx="411381" cy="376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6583921" y="2280740"/>
            <a:ext cx="3921963" cy="644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182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Honest traders: </a:t>
            </a: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penalised for missed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renewals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420394" y="2949228"/>
            <a:ext cx="4691726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Officers: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paperwork instead of inspection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6420394" y="3380761"/>
            <a:ext cx="5239890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Government: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real-time enforcement picture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6432058" y="4057219"/>
            <a:ext cx="1286111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6432057" y="4348796"/>
            <a:ext cx="5158248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One national digital trust layer for Legal Metrology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6432057" y="4652035"/>
            <a:ext cx="5111596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Aligned with Digital India, Ease of Living and Viksit</a:t>
            </a:r>
            <a:endParaRPr lang="en-US" sz="16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6758623" y="4920285"/>
            <a:ext cx="726284" cy="271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Bharat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6432058" y="5188536"/>
            <a:ext cx="44234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Fair markets, honest business, empowered consumers.</a:t>
            </a:r>
            <a:endParaRPr lang="en-US" sz="16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6758623" y="5515103"/>
            <a:ext cx="1099502" cy="21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\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6432058" y="5554337"/>
            <a:ext cx="4820019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paper stamps to a scan-and-verify India.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5492030" y="6385802"/>
            <a:ext cx="1621166" cy="22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1447175" y="6343179"/>
            <a:ext cx="128294" cy="20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/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987EBE5-B928-10B3-AD70-3F44DC922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200" y="84532"/>
            <a:ext cx="2249850" cy="1062337"/>
          </a:xfrm>
          <a:prstGeom prst="rect">
            <a:avLst/>
          </a:prstGeom>
        </p:spPr>
      </p:pic>
      <p:sp>
        <p:nvSpPr>
          <p:cNvPr id="42" name="Text 74">
            <a:extLst>
              <a:ext uri="{FF2B5EF4-FFF2-40B4-BE49-F238E27FC236}">
                <a16:creationId xmlns:a16="http://schemas.microsoft.com/office/drawing/2014/main" id="{C70E29FD-0688-5123-71DF-2580BF2D9F5F}"/>
              </a:ext>
            </a:extLst>
          </p:cNvPr>
          <p:cNvSpPr txBox="1"/>
          <p:nvPr/>
        </p:nvSpPr>
        <p:spPr>
          <a:xfrm>
            <a:off x="5492030" y="6560828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400" dirty="0"/>
          </a:p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77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355" y="914400"/>
            <a:ext cx="5449330" cy="2829697"/>
          </a:xfrm>
          <a:prstGeom prst="rect">
            <a:avLst/>
          </a:prstGeom>
          <a:solidFill>
            <a:srgbClr val="EDEDEA"/>
          </a:solidFill>
          <a:ln w="12700">
            <a:solidFill>
              <a:srgbClr val="EDED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836" y="1315995"/>
            <a:ext cx="4683211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pic>
        <p:nvPicPr>
          <p:cNvPr id="5" name="Image 0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8" y="3707027"/>
            <a:ext cx="6783859" cy="2767914"/>
          </a:xfrm>
          <a:prstGeom prst="rect">
            <a:avLst/>
          </a:prstGeom>
        </p:spPr>
      </p:pic>
      <p:pic>
        <p:nvPicPr>
          <p:cNvPr id="6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469" y="1618735"/>
            <a:ext cx="3447535" cy="963827"/>
          </a:xfrm>
          <a:prstGeom prst="rect">
            <a:avLst/>
          </a:prstGeom>
        </p:spPr>
      </p:pic>
      <p:pic>
        <p:nvPicPr>
          <p:cNvPr id="7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15" y="1618735"/>
            <a:ext cx="3323968" cy="951470"/>
          </a:xfrm>
          <a:prstGeom prst="rect">
            <a:avLst/>
          </a:prstGeom>
        </p:spPr>
      </p:pic>
      <p:pic>
        <p:nvPicPr>
          <p:cNvPr id="8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469" y="2730843"/>
            <a:ext cx="3435178" cy="1136822"/>
          </a:xfrm>
          <a:prstGeom prst="rect">
            <a:avLst/>
          </a:prstGeom>
        </p:spPr>
      </p:pic>
      <p:pic>
        <p:nvPicPr>
          <p:cNvPr id="9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2355" y="2730843"/>
            <a:ext cx="3249827" cy="1136822"/>
          </a:xfrm>
          <a:prstGeom prst="rect">
            <a:avLst/>
          </a:prstGeom>
        </p:spPr>
      </p:pic>
      <p:pic>
        <p:nvPicPr>
          <p:cNvPr id="10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469" y="3954162"/>
            <a:ext cx="3435178" cy="1136822"/>
          </a:xfrm>
          <a:prstGeom prst="rect">
            <a:avLst/>
          </a:prstGeom>
        </p:spPr>
      </p:pic>
      <p:pic>
        <p:nvPicPr>
          <p:cNvPr id="11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642" y="3954162"/>
            <a:ext cx="3274541" cy="1136822"/>
          </a:xfrm>
          <a:prstGeom prst="rect">
            <a:avLst/>
          </a:prstGeom>
        </p:spPr>
      </p:pic>
      <p:pic>
        <p:nvPicPr>
          <p:cNvPr id="12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642" y="5239265"/>
            <a:ext cx="2125362" cy="1248032"/>
          </a:xfrm>
          <a:prstGeom prst="rect">
            <a:avLst/>
          </a:prstGeom>
        </p:spPr>
      </p:pic>
      <p:pic>
        <p:nvPicPr>
          <p:cNvPr id="13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7642" y="5239265"/>
            <a:ext cx="3274541" cy="124803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74" y="6487297"/>
            <a:ext cx="12653319" cy="370703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pic>
        <p:nvPicPr>
          <p:cNvPr id="15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0507" y="1989438"/>
            <a:ext cx="321276" cy="210065"/>
          </a:xfrm>
          <a:prstGeom prst="rect">
            <a:avLst/>
          </a:prstGeom>
        </p:spPr>
      </p:pic>
      <p:pic>
        <p:nvPicPr>
          <p:cNvPr id="16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0507" y="4460789"/>
            <a:ext cx="321276" cy="197708"/>
          </a:xfrm>
          <a:prstGeom prst="rect">
            <a:avLst/>
          </a:prstGeom>
        </p:spPr>
      </p:pic>
      <p:pic>
        <p:nvPicPr>
          <p:cNvPr id="17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8204" y="3793524"/>
            <a:ext cx="210065" cy="247135"/>
          </a:xfrm>
          <a:prstGeom prst="rect">
            <a:avLst/>
          </a:prstGeom>
        </p:spPr>
      </p:pic>
      <p:sp>
        <p:nvSpPr>
          <p:cNvPr id="18" name="image2ppt-measured-path-1"/>
          <p:cNvSpPr/>
          <p:nvPr/>
        </p:nvSpPr>
        <p:spPr>
          <a:xfrm>
            <a:off x="9045220" y="5773077"/>
            <a:ext cx="265668" cy="166816"/>
          </a:xfrm>
          <a:custGeom>
            <a:avLst/>
            <a:gdLst/>
            <a:ahLst/>
            <a:cxnLst/>
            <a:rect l="l" t="t" r="r" b="b"/>
            <a:pathLst>
              <a:path w="265668" h="166816" fill="none">
                <a:moveTo>
                  <a:pt x="117389" y="80460"/>
                </a:moveTo>
                <a:lnTo>
                  <a:pt x="265668" y="80460"/>
                </a:lnTo>
              </a:path>
              <a:path w="265668" h="166816" stroke="0">
                <a:moveTo>
                  <a:pt x="0" y="74141"/>
                </a:moveTo>
                <a:lnTo>
                  <a:pt x="117389" y="0"/>
                </a:lnTo>
                <a:lnTo>
                  <a:pt x="117389" y="166816"/>
                </a:lnTo>
                <a:close/>
              </a:path>
            </a:pathLst>
          </a:custGeom>
          <a:solidFill>
            <a:srgbClr val="010101"/>
          </a:solidFill>
          <a:ln w="24714">
            <a:solidFill>
              <a:srgbClr val="010101"/>
            </a:solidFill>
            <a:prstDash val="solid"/>
          </a:ln>
        </p:spPr>
      </p:sp>
      <p:sp>
        <p:nvSpPr>
          <p:cNvPr id="19" name="image2ppt-measured-path-2"/>
          <p:cNvSpPr/>
          <p:nvPr/>
        </p:nvSpPr>
        <p:spPr>
          <a:xfrm>
            <a:off x="9045220" y="3225114"/>
            <a:ext cx="265622" cy="154459"/>
          </a:xfrm>
          <a:custGeom>
            <a:avLst/>
            <a:gdLst/>
            <a:ahLst/>
            <a:cxnLst/>
            <a:rect l="l" t="t" r="r" b="b"/>
            <a:pathLst>
              <a:path w="265622" h="154459" fill="none">
                <a:moveTo>
                  <a:pt x="265622" y="76897"/>
                </a:moveTo>
                <a:lnTo>
                  <a:pt x="117389" y="76897"/>
                </a:lnTo>
              </a:path>
              <a:path w="265622" h="154459" stroke="0">
                <a:moveTo>
                  <a:pt x="0" y="74141"/>
                </a:moveTo>
                <a:lnTo>
                  <a:pt x="117389" y="0"/>
                </a:lnTo>
                <a:lnTo>
                  <a:pt x="117389" y="154459"/>
                </a:lnTo>
                <a:close/>
              </a:path>
            </a:pathLst>
          </a:custGeom>
          <a:solidFill>
            <a:srgbClr val="000000"/>
          </a:solidFill>
          <a:ln w="12357">
            <a:solidFill>
              <a:srgbClr val="000000"/>
            </a:solidFill>
            <a:prstDash val="solid"/>
          </a:ln>
        </p:spPr>
      </p:sp>
      <p:sp>
        <p:nvSpPr>
          <p:cNvPr id="20" name="image2ppt-measured-path-3"/>
          <p:cNvSpPr/>
          <p:nvPr/>
        </p:nvSpPr>
        <p:spPr>
          <a:xfrm>
            <a:off x="7289732" y="2533156"/>
            <a:ext cx="172714" cy="221904"/>
          </a:xfrm>
          <a:custGeom>
            <a:avLst/>
            <a:gdLst/>
            <a:ahLst/>
            <a:cxnLst/>
            <a:rect l="l" t="t" r="r" b="b"/>
            <a:pathLst>
              <a:path w="172714" h="221904" fill="none">
                <a:moveTo>
                  <a:pt x="87408" y="0"/>
                </a:moveTo>
                <a:lnTo>
                  <a:pt x="87408" y="117393"/>
                </a:lnTo>
              </a:path>
              <a:path w="172714" h="221904" stroke="0">
                <a:moveTo>
                  <a:pt x="98501" y="221904"/>
                </a:moveTo>
                <a:lnTo>
                  <a:pt x="0" y="122314"/>
                </a:lnTo>
                <a:lnTo>
                  <a:pt x="172714" y="112472"/>
                </a:lnTo>
                <a:close/>
              </a:path>
            </a:pathLst>
          </a:custGeom>
          <a:solidFill>
            <a:srgbClr val="020100"/>
          </a:solidFill>
          <a:ln w="37070">
            <a:solidFill>
              <a:srgbClr val="020100"/>
            </a:solidFill>
            <a:prstDash val="solid"/>
          </a:ln>
        </p:spPr>
      </p:sp>
      <p:sp>
        <p:nvSpPr>
          <p:cNvPr id="21" name="image2ppt-measured-path-4"/>
          <p:cNvSpPr/>
          <p:nvPr/>
        </p:nvSpPr>
        <p:spPr>
          <a:xfrm>
            <a:off x="10849307" y="2533181"/>
            <a:ext cx="154459" cy="216198"/>
          </a:xfrm>
          <a:custGeom>
            <a:avLst/>
            <a:gdLst/>
            <a:ahLst/>
            <a:cxnLst/>
            <a:rect l="l" t="t" r="r" b="b"/>
            <a:pathLst>
              <a:path w="154459" h="216198" fill="none">
                <a:moveTo>
                  <a:pt x="80519" y="0"/>
                </a:moveTo>
                <a:lnTo>
                  <a:pt x="80519" y="117344"/>
                </a:lnTo>
              </a:path>
              <a:path w="154459" h="216198" stroke="0">
                <a:moveTo>
                  <a:pt x="86497" y="216198"/>
                </a:moveTo>
                <a:lnTo>
                  <a:pt x="0" y="117344"/>
                </a:lnTo>
                <a:lnTo>
                  <a:pt x="154459" y="117344"/>
                </a:lnTo>
                <a:close/>
              </a:path>
            </a:pathLst>
          </a:custGeom>
          <a:solidFill>
            <a:srgbClr val="040404"/>
          </a:solidFill>
          <a:ln w="24714">
            <a:solidFill>
              <a:srgbClr val="040404"/>
            </a:solidFill>
            <a:prstDash val="solid"/>
          </a:ln>
        </p:spPr>
      </p:sp>
      <p:sp>
        <p:nvSpPr>
          <p:cNvPr id="22" name="image2ppt-measured-path-5"/>
          <p:cNvSpPr/>
          <p:nvPr/>
        </p:nvSpPr>
        <p:spPr>
          <a:xfrm>
            <a:off x="10849307" y="3805868"/>
            <a:ext cx="154459" cy="216257"/>
          </a:xfrm>
          <a:custGeom>
            <a:avLst/>
            <a:gdLst/>
            <a:ahLst/>
            <a:cxnLst/>
            <a:rect l="l" t="t" r="r" b="b"/>
            <a:pathLst>
              <a:path w="154459" h="216257" fill="none">
                <a:moveTo>
                  <a:pt x="80293" y="0"/>
                </a:moveTo>
                <a:lnTo>
                  <a:pt x="80293" y="117403"/>
                </a:lnTo>
              </a:path>
              <a:path w="154459" h="216257" stroke="0">
                <a:moveTo>
                  <a:pt x="86497" y="216257"/>
                </a:moveTo>
                <a:lnTo>
                  <a:pt x="0" y="117403"/>
                </a:lnTo>
                <a:lnTo>
                  <a:pt x="154459" y="117403"/>
                </a:lnTo>
                <a:close/>
              </a:path>
            </a:pathLst>
          </a:custGeom>
          <a:solidFill>
            <a:srgbClr val="020102"/>
          </a:solidFill>
          <a:ln w="24714">
            <a:solidFill>
              <a:srgbClr val="020102"/>
            </a:solidFill>
            <a:prstDash val="solid"/>
          </a:ln>
        </p:spPr>
      </p:sp>
      <p:sp>
        <p:nvSpPr>
          <p:cNvPr id="23" name="image2ppt-measured-path-6"/>
          <p:cNvSpPr/>
          <p:nvPr/>
        </p:nvSpPr>
        <p:spPr>
          <a:xfrm>
            <a:off x="10849307" y="5053873"/>
            <a:ext cx="154459" cy="216283"/>
          </a:xfrm>
          <a:custGeom>
            <a:avLst/>
            <a:gdLst/>
            <a:ahLst/>
            <a:cxnLst/>
            <a:rect l="l" t="t" r="r" b="b"/>
            <a:pathLst>
              <a:path w="154459" h="216283" fill="none">
                <a:moveTo>
                  <a:pt x="80085" y="0"/>
                </a:moveTo>
                <a:lnTo>
                  <a:pt x="80085" y="117429"/>
                </a:lnTo>
              </a:path>
              <a:path w="154459" h="216283" stroke="0">
                <a:moveTo>
                  <a:pt x="86497" y="216283"/>
                </a:moveTo>
                <a:lnTo>
                  <a:pt x="0" y="117429"/>
                </a:lnTo>
                <a:lnTo>
                  <a:pt x="154459" y="117429"/>
                </a:lnTo>
                <a:close/>
              </a:path>
            </a:pathLst>
          </a:custGeom>
          <a:solidFill>
            <a:srgbClr val="040303"/>
          </a:solidFill>
          <a:ln w="24714">
            <a:solidFill>
              <a:srgbClr val="040303"/>
            </a:solidFill>
            <a:prstDash val="solid"/>
          </a:ln>
        </p:spPr>
      </p:sp>
      <p:pic>
        <p:nvPicPr>
          <p:cNvPr id="26" name="Image 14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9425" y="6005384"/>
            <a:ext cx="432486" cy="395416"/>
          </a:xfrm>
          <a:prstGeom prst="rect">
            <a:avLst/>
          </a:prstGeom>
        </p:spPr>
      </p:pic>
      <p:pic>
        <p:nvPicPr>
          <p:cNvPr id="28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3371" y="5325762"/>
            <a:ext cx="271849" cy="296562"/>
          </a:xfrm>
          <a:prstGeom prst="rect">
            <a:avLst/>
          </a:prstGeom>
        </p:spPr>
      </p:pic>
      <p:sp>
        <p:nvSpPr>
          <p:cNvPr id="31" name="Text 10"/>
          <p:cNvSpPr txBox="1"/>
          <p:nvPr/>
        </p:nvSpPr>
        <p:spPr>
          <a:xfrm>
            <a:off x="2088366" y="259986"/>
            <a:ext cx="8501449" cy="419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APPROACH: SECURE &amp; SCALABLE</a:t>
            </a:r>
            <a:endParaRPr lang="en-US" sz="2530" dirty="0"/>
          </a:p>
        </p:txBody>
      </p:sp>
      <p:sp>
        <p:nvSpPr>
          <p:cNvPr id="32" name="Text 11"/>
          <p:cNvSpPr txBox="1"/>
          <p:nvPr/>
        </p:nvSpPr>
        <p:spPr>
          <a:xfrm>
            <a:off x="741480" y="1050819"/>
            <a:ext cx="470792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PRINCIPLES &amp; COMPONENTS</a:t>
            </a:r>
            <a:endParaRPr lang="en-US" sz="1900" dirty="0"/>
          </a:p>
        </p:txBody>
      </p:sp>
      <p:sp>
        <p:nvSpPr>
          <p:cNvPr id="33" name="Text 12"/>
          <p:cNvSpPr txBox="1"/>
          <p:nvPr/>
        </p:nvSpPr>
        <p:spPr>
          <a:xfrm>
            <a:off x="420204" y="1483305"/>
            <a:ext cx="4706936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assignment &amp; scheduling of inspections.</a:t>
            </a:r>
            <a:endParaRPr lang="en-US" sz="1550" dirty="0"/>
          </a:p>
        </p:txBody>
      </p:sp>
      <p:sp>
        <p:nvSpPr>
          <p:cNvPr id="34" name="Text 13"/>
          <p:cNvSpPr txBox="1"/>
          <p:nvPr/>
        </p:nvSpPr>
        <p:spPr>
          <a:xfrm>
            <a:off x="222496" y="1767510"/>
            <a:ext cx="541127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Inspector mobile app with camera, GPS, &amp; </a:t>
            </a:r>
            <a:r>
              <a:rPr lang="en-US" sz="1500" dirty="0">
                <a:solidFill>
                  <a:srgbClr val="A3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recording.</a:t>
            </a:r>
            <a:endParaRPr lang="en-US" sz="1500" dirty="0"/>
          </a:p>
        </p:txBody>
      </p:sp>
      <p:sp>
        <p:nvSpPr>
          <p:cNvPr id="35" name="Text 14"/>
          <p:cNvSpPr txBox="1"/>
          <p:nvPr/>
        </p:nvSpPr>
        <p:spPr>
          <a:xfrm>
            <a:off x="222496" y="2039359"/>
            <a:ext cx="4571011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data synchronization to central server.</a:t>
            </a:r>
            <a:endParaRPr lang="en-US" sz="1560" dirty="0"/>
          </a:p>
        </p:txBody>
      </p:sp>
      <p:sp>
        <p:nvSpPr>
          <p:cNvPr id="36" name="Text 15"/>
          <p:cNvSpPr txBox="1"/>
          <p:nvPr/>
        </p:nvSpPr>
        <p:spPr>
          <a:xfrm>
            <a:off x="234853" y="2311208"/>
            <a:ext cx="4694579" cy="3450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authentication via Keycloak &amp; DigiLocker.</a:t>
            </a:r>
            <a:endParaRPr lang="en-US" sz="1590" dirty="0"/>
          </a:p>
        </p:txBody>
      </p:sp>
      <p:sp>
        <p:nvSpPr>
          <p:cNvPr id="37" name="Text 16"/>
          <p:cNvSpPr txBox="1"/>
          <p:nvPr/>
        </p:nvSpPr>
        <p:spPr>
          <a:xfrm>
            <a:off x="234853" y="2583056"/>
            <a:ext cx="4657509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r>
              <a:rPr lang="en-US" sz="1580" b="1" dirty="0">
                <a:solidFill>
                  <a:srgbClr val="A3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audit log </a:t>
            </a:r>
            <a:r>
              <a:rPr lang="en-US" sz="1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silent edit prevention.</a:t>
            </a:r>
            <a:endParaRPr lang="en-US" sz="1580" dirty="0"/>
          </a:p>
        </p:txBody>
      </p:sp>
      <p:sp>
        <p:nvSpPr>
          <p:cNvPr id="38" name="Text 17"/>
          <p:cNvSpPr txBox="1"/>
          <p:nvPr/>
        </p:nvSpPr>
        <p:spPr>
          <a:xfrm>
            <a:off x="222496" y="2867262"/>
            <a:ext cx="4348590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10" dirty="0">
                <a:solidFill>
                  <a:srgbClr val="010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</a:t>
            </a:r>
            <a:r>
              <a:rPr lang="en-US" sz="1510" b="1" dirty="0">
                <a:solidFill>
                  <a:srgbClr val="540B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ECDSA-signed certificates</a:t>
            </a:r>
            <a:r>
              <a:rPr lang="en-US" sz="151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keys in KMS/HSM.</a:t>
            </a:r>
            <a:endParaRPr lang="en-US" sz="1510" dirty="0"/>
          </a:p>
        </p:txBody>
      </p:sp>
      <p:sp>
        <p:nvSpPr>
          <p:cNvPr id="39" name="Text 18"/>
          <p:cNvSpPr txBox="1"/>
          <p:nvPr/>
        </p:nvSpPr>
        <p:spPr>
          <a:xfrm>
            <a:off x="222496" y="3151467"/>
            <a:ext cx="4669866" cy="29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public verification via secure QR codes.</a:t>
            </a:r>
            <a:endParaRPr lang="en-US" sz="1550" dirty="0"/>
          </a:p>
        </p:txBody>
      </p:sp>
      <p:sp>
        <p:nvSpPr>
          <p:cNvPr id="40" name="Text 19"/>
          <p:cNvSpPr txBox="1"/>
          <p:nvPr/>
        </p:nvSpPr>
        <p:spPr>
          <a:xfrm>
            <a:off x="432561" y="3423316"/>
            <a:ext cx="3644255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department monitoring dashboard.</a:t>
            </a:r>
            <a:endParaRPr lang="en-US" sz="1580" dirty="0"/>
          </a:p>
        </p:txBody>
      </p:sp>
      <p:sp>
        <p:nvSpPr>
          <p:cNvPr id="41" name="Text 20"/>
          <p:cNvSpPr txBox="1"/>
          <p:nvPr/>
        </p:nvSpPr>
        <p:spPr>
          <a:xfrm>
            <a:off x="2273717" y="3732235"/>
            <a:ext cx="1816443" cy="357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1860" dirty="0"/>
          </a:p>
        </p:txBody>
      </p:sp>
      <p:sp>
        <p:nvSpPr>
          <p:cNvPr id="42" name="Text 21"/>
          <p:cNvSpPr txBox="1"/>
          <p:nvPr/>
        </p:nvSpPr>
        <p:spPr>
          <a:xfrm>
            <a:off x="346063" y="4696062"/>
            <a:ext cx="90204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170" dirty="0"/>
          </a:p>
        </p:txBody>
      </p:sp>
      <p:sp>
        <p:nvSpPr>
          <p:cNvPr id="43" name="Text 22"/>
          <p:cNvSpPr txBox="1"/>
          <p:nvPr/>
        </p:nvSpPr>
        <p:spPr>
          <a:xfrm>
            <a:off x="1396388" y="4696062"/>
            <a:ext cx="88968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(PWA)</a:t>
            </a:r>
            <a:endParaRPr lang="en-US" sz="1170" dirty="0"/>
          </a:p>
        </p:txBody>
      </p:sp>
      <p:sp>
        <p:nvSpPr>
          <p:cNvPr id="44" name="Text 23"/>
          <p:cNvSpPr txBox="1"/>
          <p:nvPr/>
        </p:nvSpPr>
        <p:spPr>
          <a:xfrm>
            <a:off x="2582636" y="4708419"/>
            <a:ext cx="494270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1150" dirty="0"/>
          </a:p>
        </p:txBody>
      </p:sp>
      <p:sp>
        <p:nvSpPr>
          <p:cNvPr id="45" name="Text 24"/>
          <p:cNvSpPr txBox="1"/>
          <p:nvPr/>
        </p:nvSpPr>
        <p:spPr>
          <a:xfrm>
            <a:off x="3410539" y="4708419"/>
            <a:ext cx="840259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70" dirty="0"/>
          </a:p>
        </p:txBody>
      </p:sp>
      <p:sp>
        <p:nvSpPr>
          <p:cNvPr id="46" name="Text 25"/>
          <p:cNvSpPr txBox="1"/>
          <p:nvPr/>
        </p:nvSpPr>
        <p:spPr>
          <a:xfrm>
            <a:off x="469631" y="4918483"/>
            <a:ext cx="654908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2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70" dirty="0"/>
          </a:p>
        </p:txBody>
      </p:sp>
      <p:sp>
        <p:nvSpPr>
          <p:cNvPr id="47" name="Text 26"/>
          <p:cNvSpPr txBox="1"/>
          <p:nvPr/>
        </p:nvSpPr>
        <p:spPr>
          <a:xfrm>
            <a:off x="531415" y="5449824"/>
            <a:ext cx="531341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20" dirty="0"/>
          </a:p>
        </p:txBody>
      </p:sp>
      <p:sp>
        <p:nvSpPr>
          <p:cNvPr id="48" name="Text 27"/>
          <p:cNvSpPr txBox="1"/>
          <p:nvPr/>
        </p:nvSpPr>
        <p:spPr>
          <a:xfrm>
            <a:off x="1631166" y="5437467"/>
            <a:ext cx="407773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20" dirty="0"/>
          </a:p>
        </p:txBody>
      </p:sp>
      <p:sp>
        <p:nvSpPr>
          <p:cNvPr id="49" name="Text 28"/>
          <p:cNvSpPr txBox="1"/>
          <p:nvPr/>
        </p:nvSpPr>
        <p:spPr>
          <a:xfrm>
            <a:off x="2570280" y="5449824"/>
            <a:ext cx="54369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1170" dirty="0"/>
          </a:p>
        </p:txBody>
      </p:sp>
      <p:sp>
        <p:nvSpPr>
          <p:cNvPr id="50" name="Text 29"/>
          <p:cNvSpPr txBox="1"/>
          <p:nvPr/>
        </p:nvSpPr>
        <p:spPr>
          <a:xfrm>
            <a:off x="3361112" y="5449824"/>
            <a:ext cx="766119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</a:t>
            </a:r>
            <a:endParaRPr lang="en-US" sz="1170" dirty="0"/>
          </a:p>
        </p:txBody>
      </p:sp>
      <p:sp>
        <p:nvSpPr>
          <p:cNvPr id="51" name="Text 30"/>
          <p:cNvSpPr txBox="1"/>
          <p:nvPr/>
        </p:nvSpPr>
        <p:spPr>
          <a:xfrm>
            <a:off x="4609144" y="4708419"/>
            <a:ext cx="704335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KMS/HSM</a:t>
            </a:r>
            <a:endParaRPr lang="en-US" sz="1130" dirty="0"/>
          </a:p>
        </p:txBody>
      </p:sp>
      <p:sp>
        <p:nvSpPr>
          <p:cNvPr id="52" name="Text 31"/>
          <p:cNvSpPr txBox="1"/>
          <p:nvPr/>
        </p:nvSpPr>
        <p:spPr>
          <a:xfrm>
            <a:off x="6969285" y="1050819"/>
            <a:ext cx="486856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VERIFICATION WORKFLOW</a:t>
            </a:r>
            <a:endParaRPr lang="en-US" sz="2180" dirty="0"/>
          </a:p>
        </p:txBody>
      </p:sp>
      <p:sp>
        <p:nvSpPr>
          <p:cNvPr id="53" name="Text 32"/>
          <p:cNvSpPr txBox="1"/>
          <p:nvPr/>
        </p:nvSpPr>
        <p:spPr>
          <a:xfrm>
            <a:off x="8316171" y="1372094"/>
            <a:ext cx="208829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 SYSTEM</a:t>
            </a:r>
            <a:endParaRPr lang="en-US" sz="1370" dirty="0"/>
          </a:p>
        </p:txBody>
      </p:sp>
      <p:sp>
        <p:nvSpPr>
          <p:cNvPr id="54" name="Text 33"/>
          <p:cNvSpPr txBox="1"/>
          <p:nvPr/>
        </p:nvSpPr>
        <p:spPr>
          <a:xfrm>
            <a:off x="5906604" y="1681013"/>
            <a:ext cx="300269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&amp; SCHEDULING</a:t>
            </a:r>
            <a:endParaRPr lang="en-US" sz="1470" dirty="0"/>
          </a:p>
        </p:txBody>
      </p:sp>
      <p:sp>
        <p:nvSpPr>
          <p:cNvPr id="55" name="Text 34"/>
          <p:cNvSpPr txBox="1"/>
          <p:nvPr/>
        </p:nvSpPr>
        <p:spPr>
          <a:xfrm>
            <a:off x="6277307" y="1977575"/>
            <a:ext cx="2371509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assigns inspector tasks.</a:t>
            </a:r>
            <a:endParaRPr lang="en-US" sz="1180" dirty="0"/>
          </a:p>
        </p:txBody>
      </p:sp>
      <p:sp>
        <p:nvSpPr>
          <p:cNvPr id="56" name="Text 35"/>
          <p:cNvSpPr txBox="1"/>
          <p:nvPr/>
        </p:nvSpPr>
        <p:spPr>
          <a:xfrm>
            <a:off x="6289663" y="2175283"/>
            <a:ext cx="1914309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Defines sites &amp; scale IDs.</a:t>
            </a:r>
            <a:endParaRPr lang="en-US" sz="1170" dirty="0"/>
          </a:p>
        </p:txBody>
      </p:sp>
      <p:sp>
        <p:nvSpPr>
          <p:cNvPr id="57" name="Text 36"/>
          <p:cNvSpPr txBox="1"/>
          <p:nvPr/>
        </p:nvSpPr>
        <p:spPr>
          <a:xfrm>
            <a:off x="6153739" y="2780765"/>
            <a:ext cx="281734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APP (Offline-Ready)</a:t>
            </a:r>
            <a:endParaRPr lang="en-US" sz="1380" dirty="0"/>
          </a:p>
        </p:txBody>
      </p:sp>
      <p:sp>
        <p:nvSpPr>
          <p:cNvPr id="58" name="Text 37"/>
          <p:cNvSpPr txBox="1"/>
          <p:nvPr/>
        </p:nvSpPr>
        <p:spPr>
          <a:xfrm>
            <a:off x="6400874" y="3015543"/>
            <a:ext cx="2655714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00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&amp; Profile (with Keycloak/OTP)</a:t>
            </a:r>
            <a:endParaRPr lang="en-US" sz="1190" dirty="0"/>
          </a:p>
        </p:txBody>
      </p:sp>
      <p:sp>
        <p:nvSpPr>
          <p:cNvPr id="59" name="Text 38"/>
          <p:cNvSpPr txBox="1"/>
          <p:nvPr/>
        </p:nvSpPr>
        <p:spPr>
          <a:xfrm>
            <a:off x="6413231" y="3200894"/>
            <a:ext cx="163010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Assigned Sites.</a:t>
            </a:r>
            <a:endParaRPr lang="en-US" sz="1200" dirty="0"/>
          </a:p>
        </p:txBody>
      </p:sp>
      <p:sp>
        <p:nvSpPr>
          <p:cNvPr id="60" name="Text 39"/>
          <p:cNvSpPr txBox="1"/>
          <p:nvPr/>
        </p:nvSpPr>
        <p:spPr>
          <a:xfrm>
            <a:off x="6425588" y="3386246"/>
            <a:ext cx="2643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000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 result (pass/fail) with photo.</a:t>
            </a:r>
            <a:endParaRPr lang="en-US" sz="1210" dirty="0"/>
          </a:p>
        </p:txBody>
      </p:sp>
      <p:sp>
        <p:nvSpPr>
          <p:cNvPr id="61" name="Text 40"/>
          <p:cNvSpPr txBox="1"/>
          <p:nvPr/>
        </p:nvSpPr>
        <p:spPr>
          <a:xfrm>
            <a:off x="6400874" y="3559240"/>
            <a:ext cx="1815455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0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 data when online.</a:t>
            </a:r>
            <a:endParaRPr lang="en-US" sz="1220" dirty="0"/>
          </a:p>
        </p:txBody>
      </p:sp>
      <p:sp>
        <p:nvSpPr>
          <p:cNvPr id="62" name="Text 41"/>
          <p:cNvSpPr txBox="1"/>
          <p:nvPr/>
        </p:nvSpPr>
        <p:spPr>
          <a:xfrm>
            <a:off x="6586225" y="4078224"/>
            <a:ext cx="1705232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DATA SYNC</a:t>
            </a:r>
            <a:endParaRPr lang="en-US" sz="1470" dirty="0"/>
          </a:p>
        </p:txBody>
      </p:sp>
      <p:sp>
        <p:nvSpPr>
          <p:cNvPr id="63" name="Text 42"/>
          <p:cNvSpPr txBox="1"/>
          <p:nvPr/>
        </p:nvSpPr>
        <p:spPr>
          <a:xfrm>
            <a:off x="6586225" y="4350073"/>
            <a:ext cx="203787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data stored locally.</a:t>
            </a:r>
            <a:endParaRPr lang="en-US" sz="1220" dirty="0"/>
          </a:p>
        </p:txBody>
      </p:sp>
      <p:sp>
        <p:nvSpPr>
          <p:cNvPr id="64" name="Text 43"/>
          <p:cNvSpPr txBox="1"/>
          <p:nvPr/>
        </p:nvSpPr>
        <p:spPr>
          <a:xfrm>
            <a:off x="6598582" y="4510710"/>
            <a:ext cx="228501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Syncs to server on connection.</a:t>
            </a:r>
            <a:endParaRPr lang="en-US" sz="1180" dirty="0"/>
          </a:p>
        </p:txBody>
      </p:sp>
      <p:sp>
        <p:nvSpPr>
          <p:cNvPr id="65" name="Text 44"/>
          <p:cNvSpPr txBox="1"/>
          <p:nvPr/>
        </p:nvSpPr>
        <p:spPr>
          <a:xfrm>
            <a:off x="6598582" y="4720775"/>
            <a:ext cx="174131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data conflicts.</a:t>
            </a:r>
            <a:endParaRPr lang="en-US" sz="1220" dirty="0"/>
          </a:p>
        </p:txBody>
      </p:sp>
      <p:sp>
        <p:nvSpPr>
          <p:cNvPr id="66" name="Text 45"/>
          <p:cNvSpPr txBox="1"/>
          <p:nvPr/>
        </p:nvSpPr>
        <p:spPr>
          <a:xfrm>
            <a:off x="9971977" y="1718083"/>
            <a:ext cx="195236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SCALE DB</a:t>
            </a:r>
            <a:endParaRPr lang="en-US" sz="1470" dirty="0"/>
          </a:p>
        </p:txBody>
      </p:sp>
      <p:sp>
        <p:nvSpPr>
          <p:cNvPr id="67" name="Text 46"/>
          <p:cNvSpPr txBox="1"/>
          <p:nvPr/>
        </p:nvSpPr>
        <p:spPr>
          <a:xfrm>
            <a:off x="9897836" y="1989932"/>
            <a:ext cx="17907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 list of all scales.</a:t>
            </a:r>
            <a:endParaRPr lang="en-US" sz="1200" dirty="0"/>
          </a:p>
        </p:txBody>
      </p:sp>
      <p:sp>
        <p:nvSpPr>
          <p:cNvPr id="68" name="Text 47"/>
          <p:cNvSpPr txBox="1"/>
          <p:nvPr/>
        </p:nvSpPr>
        <p:spPr>
          <a:xfrm>
            <a:off x="9885480" y="2187640"/>
            <a:ext cx="1963736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2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inspection history.</a:t>
            </a:r>
            <a:endParaRPr lang="en-US" sz="1230" dirty="0"/>
          </a:p>
        </p:txBody>
      </p:sp>
      <p:sp>
        <p:nvSpPr>
          <p:cNvPr id="69" name="Text 48"/>
          <p:cNvSpPr txBox="1"/>
          <p:nvPr/>
        </p:nvSpPr>
        <p:spPr>
          <a:xfrm>
            <a:off x="9663058" y="2842548"/>
            <a:ext cx="24960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PLATFORM</a:t>
            </a:r>
            <a:endParaRPr lang="en-US" sz="1470" dirty="0"/>
          </a:p>
        </p:txBody>
      </p:sp>
      <p:sp>
        <p:nvSpPr>
          <p:cNvPr id="70" name="Text 49"/>
          <p:cNvSpPr txBox="1"/>
          <p:nvPr/>
        </p:nvSpPr>
        <p:spPr>
          <a:xfrm>
            <a:off x="9885480" y="3089683"/>
            <a:ext cx="156832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field data.</a:t>
            </a:r>
            <a:endParaRPr lang="en-US" sz="1230" dirty="0"/>
          </a:p>
        </p:txBody>
      </p:sp>
      <p:sp>
        <p:nvSpPr>
          <p:cNvPr id="71" name="Text 50"/>
          <p:cNvSpPr txBox="1"/>
          <p:nvPr/>
        </p:nvSpPr>
        <p:spPr>
          <a:xfrm>
            <a:off x="9873123" y="3275035"/>
            <a:ext cx="256921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000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•Records to </a:t>
            </a:r>
            <a:r>
              <a:rPr lang="en-US" sz="1230" dirty="0">
                <a:solidFill>
                  <a:srgbClr val="9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audit log</a:t>
            </a:r>
            <a:endParaRPr lang="en-US" sz="1230" dirty="0"/>
          </a:p>
        </p:txBody>
      </p:sp>
      <p:sp>
        <p:nvSpPr>
          <p:cNvPr id="72" name="Text 51"/>
          <p:cNvSpPr txBox="1"/>
          <p:nvPr/>
        </p:nvSpPr>
        <p:spPr>
          <a:xfrm>
            <a:off x="9873123" y="3472743"/>
            <a:ext cx="23591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00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Matches inspection to Scale ID.</a:t>
            </a:r>
            <a:endParaRPr lang="en-US" sz="1190" dirty="0"/>
          </a:p>
        </p:txBody>
      </p:sp>
      <p:sp>
        <p:nvSpPr>
          <p:cNvPr id="73" name="Text 52"/>
          <p:cNvSpPr txBox="1"/>
          <p:nvPr/>
        </p:nvSpPr>
        <p:spPr>
          <a:xfrm>
            <a:off x="9761912" y="4090581"/>
            <a:ext cx="2298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ENGINE</a:t>
            </a:r>
            <a:endParaRPr lang="en-US" sz="1470" dirty="0"/>
          </a:p>
        </p:txBody>
      </p:sp>
      <p:sp>
        <p:nvSpPr>
          <p:cNvPr id="74" name="Text 53"/>
          <p:cNvSpPr txBox="1"/>
          <p:nvPr/>
        </p:nvSpPr>
        <p:spPr>
          <a:xfrm>
            <a:off x="9885480" y="4350073"/>
            <a:ext cx="1864882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9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Issues digital certificate.</a:t>
            </a:r>
            <a:endParaRPr lang="en-US" sz="1220" dirty="0"/>
          </a:p>
        </p:txBody>
      </p:sp>
      <p:sp>
        <p:nvSpPr>
          <p:cNvPr id="75" name="Text 54"/>
          <p:cNvSpPr txBox="1"/>
          <p:nvPr/>
        </p:nvSpPr>
        <p:spPr>
          <a:xfrm>
            <a:off x="10009047" y="4523067"/>
            <a:ext cx="2556860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signs </a:t>
            </a:r>
            <a:r>
              <a:rPr lang="en-US" sz="1040" dirty="0">
                <a:solidFill>
                  <a:srgbClr val="090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time-stamps certificate</a:t>
            </a:r>
            <a:endParaRPr lang="en-US" sz="1040" dirty="0"/>
          </a:p>
        </p:txBody>
      </p:sp>
      <p:sp>
        <p:nvSpPr>
          <p:cNvPr id="76" name="Text 55"/>
          <p:cNvSpPr txBox="1"/>
          <p:nvPr/>
        </p:nvSpPr>
        <p:spPr>
          <a:xfrm>
            <a:off x="9885480" y="4720775"/>
            <a:ext cx="142003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Keys in KMS/HSM</a:t>
            </a:r>
            <a:endParaRPr lang="en-US" sz="1160" dirty="0"/>
          </a:p>
        </p:txBody>
      </p:sp>
      <p:sp>
        <p:nvSpPr>
          <p:cNvPr id="77" name="Text 56"/>
          <p:cNvSpPr txBox="1"/>
          <p:nvPr/>
        </p:nvSpPr>
        <p:spPr>
          <a:xfrm>
            <a:off x="4386723" y="5227402"/>
            <a:ext cx="242192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VERIFICATION</a:t>
            </a:r>
            <a:endParaRPr lang="en-US" sz="1410" dirty="0"/>
          </a:p>
        </p:txBody>
      </p:sp>
      <p:sp>
        <p:nvSpPr>
          <p:cNvPr id="78" name="Text 57"/>
          <p:cNvSpPr txBox="1"/>
          <p:nvPr/>
        </p:nvSpPr>
        <p:spPr>
          <a:xfrm>
            <a:off x="5029274" y="5425110"/>
            <a:ext cx="117389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(Scan to Verify)</a:t>
            </a:r>
            <a:endParaRPr lang="en-US" sz="1220" dirty="0"/>
          </a:p>
        </p:txBody>
      </p:sp>
      <p:sp>
        <p:nvSpPr>
          <p:cNvPr id="79" name="Text 58"/>
          <p:cNvSpPr txBox="1"/>
          <p:nvPr/>
        </p:nvSpPr>
        <p:spPr>
          <a:xfrm>
            <a:off x="4374366" y="5635175"/>
            <a:ext cx="233443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consumer app interface.</a:t>
            </a:r>
            <a:endParaRPr lang="en-US" sz="1200" dirty="0"/>
          </a:p>
        </p:txBody>
      </p:sp>
      <p:sp>
        <p:nvSpPr>
          <p:cNvPr id="80" name="Text 59"/>
          <p:cNvSpPr txBox="1"/>
          <p:nvPr/>
        </p:nvSpPr>
        <p:spPr>
          <a:xfrm>
            <a:off x="4386723" y="5808170"/>
            <a:ext cx="122233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scale QR.</a:t>
            </a:r>
            <a:endParaRPr lang="en-US" sz="1150" dirty="0"/>
          </a:p>
        </p:txBody>
      </p:sp>
      <p:sp>
        <p:nvSpPr>
          <p:cNvPr id="81" name="Text 60"/>
          <p:cNvSpPr txBox="1"/>
          <p:nvPr/>
        </p:nvSpPr>
        <p:spPr>
          <a:xfrm>
            <a:off x="4386723" y="6005878"/>
            <a:ext cx="14447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Queries platform.</a:t>
            </a:r>
            <a:endParaRPr lang="en-US" sz="1250" dirty="0"/>
          </a:p>
        </p:txBody>
      </p:sp>
      <p:sp>
        <p:nvSpPr>
          <p:cNvPr id="82" name="Text 61"/>
          <p:cNvSpPr txBox="1"/>
          <p:nvPr/>
        </p:nvSpPr>
        <p:spPr>
          <a:xfrm>
            <a:off x="4386723" y="6166516"/>
            <a:ext cx="125940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result.</a:t>
            </a:r>
            <a:endParaRPr lang="en-US" sz="1230" dirty="0"/>
          </a:p>
        </p:txBody>
      </p:sp>
      <p:sp>
        <p:nvSpPr>
          <p:cNvPr id="83" name="Text 62"/>
          <p:cNvSpPr txBox="1"/>
          <p:nvPr/>
        </p:nvSpPr>
        <p:spPr>
          <a:xfrm>
            <a:off x="5807750" y="6215943"/>
            <a:ext cx="1025611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2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Fake</a:t>
            </a:r>
            <a:endParaRPr lang="en-US" sz="1240" dirty="0"/>
          </a:p>
        </p:txBody>
      </p:sp>
      <p:sp>
        <p:nvSpPr>
          <p:cNvPr id="84" name="Text 63"/>
          <p:cNvSpPr txBox="1"/>
          <p:nvPr/>
        </p:nvSpPr>
        <p:spPr>
          <a:xfrm>
            <a:off x="7068139" y="5350970"/>
            <a:ext cx="172994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EXPIRATION ALERTS</a:t>
            </a:r>
            <a:endParaRPr lang="en-US" sz="1280" dirty="0"/>
          </a:p>
        </p:txBody>
      </p:sp>
      <p:sp>
        <p:nvSpPr>
          <p:cNvPr id="85" name="Text 64"/>
          <p:cNvSpPr txBox="1"/>
          <p:nvPr/>
        </p:nvSpPr>
        <p:spPr>
          <a:xfrm>
            <a:off x="7092853" y="5598105"/>
            <a:ext cx="1728957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reminders sent</a:t>
            </a:r>
            <a:endParaRPr lang="en-US" sz="1210" dirty="0"/>
          </a:p>
        </p:txBody>
      </p:sp>
      <p:sp>
        <p:nvSpPr>
          <p:cNvPr id="86" name="Text 65"/>
          <p:cNvSpPr txBox="1"/>
          <p:nvPr/>
        </p:nvSpPr>
        <p:spPr>
          <a:xfrm>
            <a:off x="7216420" y="5758743"/>
            <a:ext cx="132118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expiration.</a:t>
            </a:r>
            <a:endParaRPr lang="en-US" sz="1240" dirty="0"/>
          </a:p>
        </p:txBody>
      </p:sp>
      <p:sp>
        <p:nvSpPr>
          <p:cNvPr id="87" name="Text 66"/>
          <p:cNvSpPr txBox="1"/>
          <p:nvPr/>
        </p:nvSpPr>
        <p:spPr>
          <a:xfrm>
            <a:off x="7080496" y="5956451"/>
            <a:ext cx="182781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notified of</a:t>
            </a:r>
            <a:endParaRPr lang="en-US" sz="1250" dirty="0"/>
          </a:p>
        </p:txBody>
      </p:sp>
      <p:sp>
        <p:nvSpPr>
          <p:cNvPr id="88" name="Text 67"/>
          <p:cNvSpPr txBox="1"/>
          <p:nvPr/>
        </p:nvSpPr>
        <p:spPr>
          <a:xfrm>
            <a:off x="7216420" y="6154159"/>
            <a:ext cx="161774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expirations.</a:t>
            </a:r>
            <a:endParaRPr lang="en-US" sz="1220" dirty="0"/>
          </a:p>
        </p:txBody>
      </p:sp>
      <p:sp>
        <p:nvSpPr>
          <p:cNvPr id="89" name="Text 68"/>
          <p:cNvSpPr txBox="1"/>
          <p:nvPr/>
        </p:nvSpPr>
        <p:spPr>
          <a:xfrm>
            <a:off x="9638344" y="5363327"/>
            <a:ext cx="2545492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DASHBOARD</a:t>
            </a:r>
            <a:endParaRPr lang="en-US" sz="1430" dirty="0"/>
          </a:p>
        </p:txBody>
      </p:sp>
      <p:sp>
        <p:nvSpPr>
          <p:cNvPr id="90" name="Text 69"/>
          <p:cNvSpPr txBox="1"/>
          <p:nvPr/>
        </p:nvSpPr>
        <p:spPr>
          <a:xfrm>
            <a:off x="9749555" y="5573392"/>
            <a:ext cx="2087303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•Live inspection status map.</a:t>
            </a:r>
            <a:endParaRPr lang="en-US" sz="1240" dirty="0"/>
          </a:p>
        </p:txBody>
      </p:sp>
      <p:sp>
        <p:nvSpPr>
          <p:cNvPr id="91" name="Text 70"/>
          <p:cNvSpPr txBox="1"/>
          <p:nvPr/>
        </p:nvSpPr>
        <p:spPr>
          <a:xfrm>
            <a:off x="9749555" y="5783456"/>
            <a:ext cx="1420038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Overdue task list.</a:t>
            </a:r>
            <a:endParaRPr lang="en-US" sz="1230" dirty="0"/>
          </a:p>
        </p:txBody>
      </p:sp>
      <p:sp>
        <p:nvSpPr>
          <p:cNvPr id="92" name="Text 71"/>
          <p:cNvSpPr txBox="1"/>
          <p:nvPr/>
        </p:nvSpPr>
        <p:spPr>
          <a:xfrm>
            <a:off x="9761912" y="5956451"/>
            <a:ext cx="138296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task list.</a:t>
            </a:r>
            <a:endParaRPr lang="en-US" sz="1220" dirty="0"/>
          </a:p>
        </p:txBody>
      </p:sp>
      <p:sp>
        <p:nvSpPr>
          <p:cNvPr id="93" name="Text 72"/>
          <p:cNvSpPr txBox="1"/>
          <p:nvPr/>
        </p:nvSpPr>
        <p:spPr>
          <a:xfrm>
            <a:off x="11306507" y="5956451"/>
            <a:ext cx="395416" cy="18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760" dirty="0"/>
          </a:p>
        </p:txBody>
      </p:sp>
      <p:sp>
        <p:nvSpPr>
          <p:cNvPr id="94" name="Text 73"/>
          <p:cNvSpPr txBox="1"/>
          <p:nvPr/>
        </p:nvSpPr>
        <p:spPr>
          <a:xfrm>
            <a:off x="9885480" y="6092375"/>
            <a:ext cx="125940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reports.</a:t>
            </a:r>
            <a:endParaRPr lang="en-US" sz="1210" dirty="0"/>
          </a:p>
        </p:txBody>
      </p:sp>
      <p:sp>
        <p:nvSpPr>
          <p:cNvPr id="95" name="Text 74"/>
          <p:cNvSpPr txBox="1"/>
          <p:nvPr/>
        </p:nvSpPr>
        <p:spPr>
          <a:xfrm>
            <a:off x="5449404" y="6636073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6" name="Text 75"/>
          <p:cNvSpPr txBox="1"/>
          <p:nvPr/>
        </p:nvSpPr>
        <p:spPr>
          <a:xfrm>
            <a:off x="11862561" y="6636073"/>
            <a:ext cx="123568" cy="209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1190" dirty="0"/>
          </a:p>
        </p:txBody>
      </p:sp>
      <p:sp>
        <p:nvSpPr>
          <p:cNvPr id="97" name="Text 76"/>
          <p:cNvSpPr txBox="1"/>
          <p:nvPr/>
        </p:nvSpPr>
        <p:spPr>
          <a:xfrm>
            <a:off x="531415" y="6191229"/>
            <a:ext cx="5313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</p:txBody>
      </p:sp>
      <p:sp>
        <p:nvSpPr>
          <p:cNvPr id="98" name="Text 77"/>
          <p:cNvSpPr txBox="1"/>
          <p:nvPr/>
        </p:nvSpPr>
        <p:spPr>
          <a:xfrm>
            <a:off x="1519955" y="6191229"/>
            <a:ext cx="6672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</a:t>
            </a:r>
            <a:endParaRPr lang="en-US" sz="1240" dirty="0"/>
          </a:p>
        </p:txBody>
      </p:sp>
      <p:sp>
        <p:nvSpPr>
          <p:cNvPr id="99" name="Text 78"/>
          <p:cNvSpPr txBox="1"/>
          <p:nvPr/>
        </p:nvSpPr>
        <p:spPr>
          <a:xfrm>
            <a:off x="2570280" y="6178873"/>
            <a:ext cx="51898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10" dirty="0"/>
          </a:p>
        </p:txBody>
      </p:sp>
      <p:sp>
        <p:nvSpPr>
          <p:cNvPr id="100" name="Text 79"/>
          <p:cNvSpPr txBox="1"/>
          <p:nvPr/>
        </p:nvSpPr>
        <p:spPr>
          <a:xfrm>
            <a:off x="3348755" y="6178873"/>
            <a:ext cx="79083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7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1F1B314-F54D-8067-5064-43B90C56FC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n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852" y="2667019"/>
            <a:ext cx="130965" cy="595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69351" y="952562"/>
            <a:ext cx="2643121" cy="940570"/>
          </a:xfrm>
          <a:prstGeom prst="roundRect">
            <a:avLst>
              <a:gd name="adj" fmla="val 5833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7665" y="2000287"/>
            <a:ext cx="2262131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759" y="4131451"/>
            <a:ext cx="2274037" cy="1547774"/>
          </a:xfrm>
          <a:prstGeom prst="roundRect">
            <a:avLst>
              <a:gd name="adj" fmla="val 3545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88661" y="2000287"/>
            <a:ext cx="2297849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12472" y="4131451"/>
            <a:ext cx="2250225" cy="1500150"/>
          </a:xfrm>
          <a:prstGeom prst="roundRect">
            <a:avLst>
              <a:gd name="adj" fmla="val 3657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55593" y="1274023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55593" y="2452712"/>
            <a:ext cx="4095648" cy="1107254"/>
          </a:xfrm>
          <a:prstGeom prst="roundRect">
            <a:avLst>
              <a:gd name="adj" fmla="val 49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55593" y="3631401"/>
            <a:ext cx="4095648" cy="1119160"/>
          </a:xfrm>
          <a:prstGeom prst="roundRect">
            <a:avLst>
              <a:gd name="adj" fmla="val 4902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55593" y="4798185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6500737"/>
            <a:ext cx="12653963" cy="357179"/>
          </a:xfrm>
          <a:prstGeom prst="rect">
            <a:avLst/>
          </a:prstGeom>
          <a:solidFill>
            <a:srgbClr val="026EBB"/>
          </a:solidFill>
          <a:ln w="12700">
            <a:solidFill>
              <a:srgbClr val="026EB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4863" y="619196"/>
            <a:ext cx="0" cy="5226713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pic>
        <p:nvPicPr>
          <p:cNvPr id="14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64" y="5953062"/>
            <a:ext cx="11870234" cy="47623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15123" y="845409"/>
            <a:ext cx="4036118" cy="333367"/>
          </a:xfrm>
          <a:prstGeom prst="rect">
            <a:avLst/>
          </a:prstGeom>
          <a:solidFill>
            <a:srgbClr val="0D2544"/>
          </a:solidFill>
          <a:ln w="12700">
            <a:solidFill>
              <a:srgbClr val="0D2544">
                <a:alpha val="0"/>
              </a:srgbClr>
            </a:solidFill>
            <a:prstDash val="solid"/>
          </a:ln>
        </p:spPr>
      </p:sp>
      <p:pic>
        <p:nvPicPr>
          <p:cNvPr id="16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594" y="1274023"/>
            <a:ext cx="1154877" cy="1095348"/>
          </a:xfrm>
          <a:prstGeom prst="rect">
            <a:avLst/>
          </a:prstGeom>
        </p:spPr>
      </p:pic>
      <p:pic>
        <p:nvPicPr>
          <p:cNvPr id="17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564" y="1274023"/>
            <a:ext cx="2952676" cy="523862"/>
          </a:xfrm>
          <a:prstGeom prst="rect">
            <a:avLst/>
          </a:prstGeom>
        </p:spPr>
      </p:pic>
      <p:pic>
        <p:nvPicPr>
          <p:cNvPr id="18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594" y="2452712"/>
            <a:ext cx="1154877" cy="1107254"/>
          </a:xfrm>
          <a:prstGeom prst="rect">
            <a:avLst/>
          </a:prstGeom>
        </p:spPr>
      </p:pic>
      <p:pic>
        <p:nvPicPr>
          <p:cNvPr id="19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564" y="2452712"/>
            <a:ext cx="2952676" cy="535768"/>
          </a:xfrm>
          <a:prstGeom prst="rect">
            <a:avLst/>
          </a:prstGeom>
        </p:spPr>
      </p:pic>
      <p:pic>
        <p:nvPicPr>
          <p:cNvPr id="20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594" y="3631401"/>
            <a:ext cx="1154877" cy="1119160"/>
          </a:xfrm>
          <a:prstGeom prst="rect">
            <a:avLst/>
          </a:prstGeom>
        </p:spPr>
      </p:pic>
      <p:pic>
        <p:nvPicPr>
          <p:cNvPr id="21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469" y="3650118"/>
            <a:ext cx="2952676" cy="535768"/>
          </a:xfrm>
          <a:prstGeom prst="rect">
            <a:avLst/>
          </a:prstGeom>
        </p:spPr>
      </p:pic>
      <p:pic>
        <p:nvPicPr>
          <p:cNvPr id="22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594" y="4798185"/>
            <a:ext cx="1154877" cy="1095348"/>
          </a:xfrm>
          <a:prstGeom prst="rect">
            <a:avLst/>
          </a:prstGeom>
        </p:spPr>
      </p:pic>
      <p:pic>
        <p:nvPicPr>
          <p:cNvPr id="23" name="Image 9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564" y="4798185"/>
            <a:ext cx="2952676" cy="535768"/>
          </a:xfrm>
          <a:prstGeom prst="rect">
            <a:avLst/>
          </a:prstGeom>
        </p:spPr>
      </p:pic>
      <p:sp>
        <p:nvSpPr>
          <p:cNvPr id="25" name="image2ppt-measured-path-1"/>
          <p:cNvSpPr/>
          <p:nvPr/>
        </p:nvSpPr>
        <p:spPr>
          <a:xfrm>
            <a:off x="2802667" y="4353992"/>
            <a:ext cx="750074" cy="1247845"/>
          </a:xfrm>
          <a:custGeom>
            <a:avLst/>
            <a:gdLst/>
            <a:ahLst/>
            <a:cxnLst/>
            <a:rect l="l" t="t" r="r" b="b"/>
            <a:pathLst>
              <a:path w="750074" h="1247845" fill="none">
                <a:moveTo>
                  <a:pt x="750074" y="3546"/>
                </a:moveTo>
                <a:lnTo>
                  <a:pt x="714357" y="3546"/>
                </a:lnTo>
                <a:cubicBezTo>
                  <a:pt x="635856" y="4107"/>
                  <a:pt x="568683" y="0"/>
                  <a:pt x="519100" y="75109"/>
                </a:cubicBezTo>
                <a:cubicBezTo>
                  <a:pt x="429671" y="210575"/>
                  <a:pt x="592245" y="1035206"/>
                  <a:pt x="428614" y="1153788"/>
                </a:cubicBezTo>
                <a:cubicBezTo>
                  <a:pt x="371505" y="1195175"/>
                  <a:pt x="193158" y="1182363"/>
                  <a:pt x="119060" y="1182363"/>
                </a:cubicBezTo>
                <a:lnTo>
                  <a:pt x="77389" y="1182363"/>
                </a:lnTo>
              </a:path>
              <a:path w="750074" h="1247845" stroke="0">
                <a:moveTo>
                  <a:pt x="0" y="1182363"/>
                </a:moveTo>
                <a:lnTo>
                  <a:pt x="77389" y="1099021"/>
                </a:lnTo>
                <a:lnTo>
                  <a:pt x="77389" y="1247845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6" name="image2ppt-measured-path-2"/>
          <p:cNvSpPr/>
          <p:nvPr/>
        </p:nvSpPr>
        <p:spPr>
          <a:xfrm>
            <a:off x="4874313" y="4352361"/>
            <a:ext cx="589334" cy="1237570"/>
          </a:xfrm>
          <a:custGeom>
            <a:avLst/>
            <a:gdLst/>
            <a:ahLst/>
            <a:cxnLst/>
            <a:rect l="l" t="t" r="r" b="b"/>
            <a:pathLst>
              <a:path w="589334" h="1237570" fill="none">
                <a:moveTo>
                  <a:pt x="0" y="4793"/>
                </a:moveTo>
                <a:lnTo>
                  <a:pt x="47613" y="4793"/>
                </a:lnTo>
                <a:cubicBezTo>
                  <a:pt x="114909" y="6235"/>
                  <a:pt x="165881" y="0"/>
                  <a:pt x="209534" y="64833"/>
                </a:cubicBezTo>
                <a:cubicBezTo>
                  <a:pt x="278190" y="166802"/>
                  <a:pt x="161989" y="1023028"/>
                  <a:pt x="273826" y="1136369"/>
                </a:cubicBezTo>
                <a:cubicBezTo>
                  <a:pt x="332800" y="1196136"/>
                  <a:pt x="423856" y="1183993"/>
                  <a:pt x="500039" y="1183993"/>
                </a:cubicBezTo>
                <a:lnTo>
                  <a:pt x="508373" y="1183993"/>
                </a:lnTo>
              </a:path>
              <a:path w="589334" h="1237570" stroke="0">
                <a:moveTo>
                  <a:pt x="589334" y="1183993"/>
                </a:moveTo>
                <a:lnTo>
                  <a:pt x="505992" y="1237570"/>
                </a:lnTo>
                <a:lnTo>
                  <a:pt x="505992" y="1124463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sp>
        <p:nvSpPr>
          <p:cNvPr id="27" name="image2ppt-measured-path-3"/>
          <p:cNvSpPr/>
          <p:nvPr/>
        </p:nvSpPr>
        <p:spPr>
          <a:xfrm>
            <a:off x="2802667" y="1952662"/>
            <a:ext cx="500050" cy="1327514"/>
          </a:xfrm>
          <a:custGeom>
            <a:avLst/>
            <a:gdLst/>
            <a:ahLst/>
            <a:cxnLst/>
            <a:rect l="l" t="t" r="r" b="b"/>
            <a:pathLst>
              <a:path w="500050" h="1327514" fill="none">
                <a:moveTo>
                  <a:pt x="89295" y="59530"/>
                </a:moveTo>
                <a:lnTo>
                  <a:pt x="107154" y="59530"/>
                </a:lnTo>
                <a:cubicBezTo>
                  <a:pt x="212476" y="59530"/>
                  <a:pt x="447118" y="28635"/>
                  <a:pt x="482579" y="166277"/>
                </a:cubicBezTo>
                <a:lnTo>
                  <a:pt x="500050" y="234090"/>
                </a:lnTo>
                <a:lnTo>
                  <a:pt x="500050" y="1327514"/>
                </a:lnTo>
              </a:path>
              <a:path w="500050" h="1327514" stroke="0">
                <a:moveTo>
                  <a:pt x="0" y="59530"/>
                </a:moveTo>
                <a:lnTo>
                  <a:pt x="89295" y="0"/>
                </a:lnTo>
                <a:lnTo>
                  <a:pt x="89295" y="113107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8" name="image2ppt-measured-path-4"/>
          <p:cNvSpPr/>
          <p:nvPr/>
        </p:nvSpPr>
        <p:spPr>
          <a:xfrm>
            <a:off x="5067048" y="1945819"/>
            <a:ext cx="414257" cy="1340112"/>
          </a:xfrm>
          <a:custGeom>
            <a:avLst/>
            <a:gdLst/>
            <a:ahLst/>
            <a:cxnLst/>
            <a:rect l="l" t="t" r="r" b="b"/>
            <a:pathLst>
              <a:path w="414257" h="1340112" fill="none">
                <a:moveTo>
                  <a:pt x="301490" y="62905"/>
                </a:moveTo>
                <a:lnTo>
                  <a:pt x="283493" y="62905"/>
                </a:lnTo>
                <a:cubicBezTo>
                  <a:pt x="205683" y="67228"/>
                  <a:pt x="128775" y="69783"/>
                  <a:pt x="76330" y="137808"/>
                </a:cubicBezTo>
                <a:cubicBezTo>
                  <a:pt x="0" y="236813"/>
                  <a:pt x="52237" y="1109020"/>
                  <a:pt x="31593" y="1304592"/>
                </a:cubicBezTo>
                <a:lnTo>
                  <a:pt x="31593" y="1340112"/>
                </a:lnTo>
              </a:path>
              <a:path w="414257" h="1340112" stroke="0">
                <a:moveTo>
                  <a:pt x="414257" y="59108"/>
                </a:moveTo>
                <a:lnTo>
                  <a:pt x="305287" y="136708"/>
                </a:lnTo>
                <a:lnTo>
                  <a:pt x="297692" y="0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pic>
        <p:nvPicPr>
          <p:cNvPr id="29" name="Image 11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33632" y="2405088"/>
            <a:ext cx="2488344" cy="2488344"/>
          </a:xfrm>
          <a:prstGeom prst="rect">
            <a:avLst/>
          </a:prstGeom>
        </p:spPr>
      </p:pic>
      <p:pic>
        <p:nvPicPr>
          <p:cNvPr id="32" name="Image 14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183" y="2643208"/>
            <a:ext cx="785793" cy="773887"/>
          </a:xfrm>
          <a:prstGeom prst="rect">
            <a:avLst/>
          </a:prstGeom>
        </p:spPr>
      </p:pic>
      <p:pic>
        <p:nvPicPr>
          <p:cNvPr id="33" name="Image 15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4183" y="1452613"/>
            <a:ext cx="797699" cy="750075"/>
          </a:xfrm>
          <a:prstGeom prst="rect">
            <a:avLst/>
          </a:prstGeom>
        </p:spPr>
      </p:pic>
      <p:pic>
        <p:nvPicPr>
          <p:cNvPr id="34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4183" y="3857615"/>
            <a:ext cx="761981" cy="702451"/>
          </a:xfrm>
          <a:prstGeom prst="rect">
            <a:avLst/>
          </a:prstGeom>
        </p:spPr>
      </p:pic>
      <p:pic>
        <p:nvPicPr>
          <p:cNvPr id="35" name="Image 17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4183" y="5036305"/>
            <a:ext cx="761981" cy="654827"/>
          </a:xfrm>
          <a:prstGeom prst="rect">
            <a:avLst/>
          </a:prstGeom>
        </p:spPr>
      </p:pic>
      <p:pic>
        <p:nvPicPr>
          <p:cNvPr id="36" name="Image 18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9920" y="1797885"/>
            <a:ext cx="583392" cy="595298"/>
          </a:xfrm>
          <a:prstGeom prst="rect">
            <a:avLst/>
          </a:prstGeom>
        </p:spPr>
      </p:pic>
      <p:pic>
        <p:nvPicPr>
          <p:cNvPr id="37" name="Image 19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71651" y="5357764"/>
            <a:ext cx="428614" cy="428614"/>
          </a:xfrm>
          <a:prstGeom prst="rect">
            <a:avLst/>
          </a:prstGeom>
        </p:spPr>
      </p:pic>
      <p:pic>
        <p:nvPicPr>
          <p:cNvPr id="38" name="Image 20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2001" y="5357764"/>
            <a:ext cx="416708" cy="428614"/>
          </a:xfrm>
          <a:prstGeom prst="rect">
            <a:avLst/>
          </a:prstGeom>
        </p:spPr>
      </p:pic>
      <p:pic>
        <p:nvPicPr>
          <p:cNvPr id="39" name="Image 21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83907" y="1809790"/>
            <a:ext cx="392896" cy="452426"/>
          </a:xfrm>
          <a:prstGeom prst="rect">
            <a:avLst/>
          </a:prstGeom>
        </p:spPr>
      </p:pic>
      <p:pic>
        <p:nvPicPr>
          <p:cNvPr id="40" name="Image 22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19276" y="1809790"/>
            <a:ext cx="369085" cy="440520"/>
          </a:xfrm>
          <a:prstGeom prst="rect">
            <a:avLst/>
          </a:prstGeom>
        </p:spPr>
      </p:pic>
      <p:sp>
        <p:nvSpPr>
          <p:cNvPr id="41" name="Text 16"/>
          <p:cNvSpPr txBox="1"/>
          <p:nvPr/>
        </p:nvSpPr>
        <p:spPr>
          <a:xfrm>
            <a:off x="3386058" y="97050"/>
            <a:ext cx="5988694" cy="69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 IMPACT &amp; BENEFITS:</a:t>
            </a:r>
            <a:endParaRPr lang="en-US" sz="2470" dirty="0"/>
          </a:p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THROUGH VERIFICATION</a:t>
            </a:r>
            <a:endParaRPr lang="en-US" sz="2470" dirty="0"/>
          </a:p>
        </p:txBody>
      </p:sp>
      <p:sp>
        <p:nvSpPr>
          <p:cNvPr id="42" name="Text 17"/>
          <p:cNvSpPr txBox="1"/>
          <p:nvPr/>
        </p:nvSpPr>
        <p:spPr>
          <a:xfrm>
            <a:off x="3659895" y="3357564"/>
            <a:ext cx="1059630" cy="68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&amp;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1420" dirty="0"/>
          </a:p>
        </p:txBody>
      </p:sp>
      <p:sp>
        <p:nvSpPr>
          <p:cNvPr id="43" name="Text 18"/>
          <p:cNvSpPr txBox="1"/>
          <p:nvPr/>
        </p:nvSpPr>
        <p:spPr>
          <a:xfrm>
            <a:off x="3302718" y="1011235"/>
            <a:ext cx="1370901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</a:t>
            </a:r>
            <a:endParaRPr lang="en-US" sz="1680" dirty="0"/>
          </a:p>
        </p:txBody>
      </p:sp>
      <p:sp>
        <p:nvSpPr>
          <p:cNvPr id="44" name="Text 19"/>
          <p:cNvSpPr txBox="1"/>
          <p:nvPr/>
        </p:nvSpPr>
        <p:spPr>
          <a:xfrm>
            <a:off x="3217658" y="1271418"/>
            <a:ext cx="2097164" cy="311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Live pendency view</a:t>
            </a:r>
            <a:endParaRPr lang="en-US" sz="1730" dirty="0"/>
          </a:p>
        </p:txBody>
      </p:sp>
      <p:sp>
        <p:nvSpPr>
          <p:cNvPr id="45" name="Text 20"/>
          <p:cNvSpPr txBox="1"/>
          <p:nvPr/>
        </p:nvSpPr>
        <p:spPr>
          <a:xfrm>
            <a:off x="3028881" y="1511285"/>
            <a:ext cx="20411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100" dirty="0"/>
          </a:p>
        </p:txBody>
      </p:sp>
      <p:sp>
        <p:nvSpPr>
          <p:cNvPr id="46" name="Text 21"/>
          <p:cNvSpPr txBox="1"/>
          <p:nvPr/>
        </p:nvSpPr>
        <p:spPr>
          <a:xfrm>
            <a:off x="3302718" y="1511285"/>
            <a:ext cx="232337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enforcement.</a:t>
            </a:r>
            <a:endParaRPr lang="en-US" sz="1680" dirty="0"/>
          </a:p>
        </p:txBody>
      </p:sp>
      <p:sp>
        <p:nvSpPr>
          <p:cNvPr id="47" name="Text 22"/>
          <p:cNvSpPr txBox="1"/>
          <p:nvPr/>
        </p:nvSpPr>
        <p:spPr>
          <a:xfrm>
            <a:off x="6172051" y="2070864"/>
            <a:ext cx="954192" cy="263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Traders:</a:t>
            </a:r>
            <a:endParaRPr lang="en-US" sz="1680" dirty="0"/>
          </a:p>
        </p:txBody>
      </p:sp>
      <p:sp>
        <p:nvSpPr>
          <p:cNvPr id="48" name="Text 23"/>
          <p:cNvSpPr txBox="1"/>
          <p:nvPr/>
        </p:nvSpPr>
        <p:spPr>
          <a:xfrm>
            <a:off x="5648190" y="2320889"/>
            <a:ext cx="2204317" cy="335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3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Apply and pay online</a:t>
            </a:r>
            <a:endParaRPr lang="en-US" sz="1730" dirty="0"/>
          </a:p>
        </p:txBody>
      </p:sp>
      <p:sp>
        <p:nvSpPr>
          <p:cNvPr id="49" name="Text 24"/>
          <p:cNvSpPr txBox="1"/>
          <p:nvPr/>
        </p:nvSpPr>
        <p:spPr>
          <a:xfrm>
            <a:off x="5660096" y="2594726"/>
            <a:ext cx="358895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2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320" dirty="0"/>
          </a:p>
        </p:txBody>
      </p:sp>
      <p:sp>
        <p:nvSpPr>
          <p:cNvPr id="50" name="Text 25"/>
          <p:cNvSpPr txBox="1"/>
          <p:nvPr/>
        </p:nvSpPr>
        <p:spPr>
          <a:xfrm>
            <a:off x="5945838" y="2594725"/>
            <a:ext cx="1868377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875"/>
              </a:lnSpc>
            </a:pPr>
            <a:r>
              <a:rPr lang="en-US" sz="132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Reminders avoid</a:t>
            </a:r>
            <a:endParaRPr lang="en-US" sz="1320" dirty="0"/>
          </a:p>
          <a:p>
            <a:pPr>
              <a:lnSpc>
                <a:spcPts val="1875"/>
              </a:lnSpc>
            </a:pPr>
            <a:r>
              <a:rPr lang="en-US" sz="132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penalties.</a:t>
            </a:r>
            <a:endParaRPr lang="en-US" sz="1320" dirty="0"/>
          </a:p>
        </p:txBody>
      </p:sp>
      <p:sp>
        <p:nvSpPr>
          <p:cNvPr id="51" name="Text 26"/>
          <p:cNvSpPr txBox="1"/>
          <p:nvPr/>
        </p:nvSpPr>
        <p:spPr>
          <a:xfrm>
            <a:off x="5648190" y="4166312"/>
            <a:ext cx="1275653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Consumers:</a:t>
            </a:r>
            <a:endParaRPr lang="en-US" sz="1680" dirty="0"/>
          </a:p>
        </p:txBody>
      </p:sp>
      <p:sp>
        <p:nvSpPr>
          <p:cNvPr id="52" name="Text 27"/>
          <p:cNvSpPr txBox="1"/>
          <p:nvPr/>
        </p:nvSpPr>
        <p:spPr>
          <a:xfrm>
            <a:off x="5660095" y="4487772"/>
            <a:ext cx="156494" cy="14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000" dirty="0"/>
          </a:p>
        </p:txBody>
      </p:sp>
      <p:sp>
        <p:nvSpPr>
          <p:cNvPr id="53" name="Text 28"/>
          <p:cNvSpPr txBox="1"/>
          <p:nvPr/>
        </p:nvSpPr>
        <p:spPr>
          <a:xfrm>
            <a:off x="5910120" y="4452912"/>
            <a:ext cx="1954292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QR to check any</a:t>
            </a:r>
            <a:endParaRPr lang="en-US" sz="1590" dirty="0"/>
          </a:p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instrument</a:t>
            </a:r>
            <a:endParaRPr lang="en-US" sz="1590" dirty="0"/>
          </a:p>
        </p:txBody>
      </p:sp>
      <p:sp>
        <p:nvSpPr>
          <p:cNvPr id="54" name="Text 29"/>
          <p:cNvSpPr txBox="1"/>
          <p:nvPr/>
        </p:nvSpPr>
        <p:spPr>
          <a:xfrm>
            <a:off x="5672002" y="4880669"/>
            <a:ext cx="335083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0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500" dirty="0"/>
          </a:p>
        </p:txBody>
      </p:sp>
      <p:sp>
        <p:nvSpPr>
          <p:cNvPr id="55" name="Text 30"/>
          <p:cNvSpPr txBox="1"/>
          <p:nvPr/>
        </p:nvSpPr>
        <p:spPr>
          <a:xfrm>
            <a:off x="5933933" y="4917244"/>
            <a:ext cx="1299465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50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Fairer, trusted</a:t>
            </a:r>
            <a:endParaRPr lang="en-US" sz="1500" dirty="0"/>
          </a:p>
          <a:p>
            <a:pPr>
              <a:lnSpc>
                <a:spcPts val="2156"/>
              </a:lnSpc>
            </a:pPr>
            <a:r>
              <a:rPr lang="en-US" sz="150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transactions.</a:t>
            </a:r>
            <a:endParaRPr lang="en-US" sz="1500" dirty="0"/>
          </a:p>
        </p:txBody>
      </p:sp>
      <p:sp>
        <p:nvSpPr>
          <p:cNvPr id="56" name="Text 31"/>
          <p:cNvSpPr txBox="1"/>
          <p:nvPr/>
        </p:nvSpPr>
        <p:spPr>
          <a:xfrm>
            <a:off x="457195" y="2058958"/>
            <a:ext cx="72797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4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LMOs:</a:t>
            </a:r>
            <a:endParaRPr lang="en-US" sz="1640" dirty="0"/>
          </a:p>
        </p:txBody>
      </p:sp>
      <p:sp>
        <p:nvSpPr>
          <p:cNvPr id="57" name="Text 32"/>
          <p:cNvSpPr txBox="1"/>
          <p:nvPr/>
        </p:nvSpPr>
        <p:spPr>
          <a:xfrm>
            <a:off x="445288" y="2308983"/>
            <a:ext cx="2132882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3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Paperless field work</a:t>
            </a:r>
            <a:endParaRPr lang="en-US" sz="1730" dirty="0"/>
          </a:p>
        </p:txBody>
      </p:sp>
      <p:sp>
        <p:nvSpPr>
          <p:cNvPr id="58" name="Text 33"/>
          <p:cNvSpPr txBox="1"/>
          <p:nvPr/>
        </p:nvSpPr>
        <p:spPr>
          <a:xfrm>
            <a:off x="445288" y="2582820"/>
            <a:ext cx="2180506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3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Auto-planned routes.</a:t>
            </a:r>
            <a:endParaRPr lang="en-US" sz="1630" dirty="0"/>
          </a:p>
        </p:txBody>
      </p:sp>
      <p:sp>
        <p:nvSpPr>
          <p:cNvPr id="59" name="Text 34"/>
          <p:cNvSpPr txBox="1"/>
          <p:nvPr/>
        </p:nvSpPr>
        <p:spPr>
          <a:xfrm>
            <a:off x="457195" y="4154406"/>
            <a:ext cx="811321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GATCs:</a:t>
            </a:r>
            <a:endParaRPr lang="en-US" sz="1620" dirty="0"/>
          </a:p>
        </p:txBody>
      </p:sp>
      <p:sp>
        <p:nvSpPr>
          <p:cNvPr id="60" name="Text 35"/>
          <p:cNvSpPr txBox="1"/>
          <p:nvPr/>
        </p:nvSpPr>
        <p:spPr>
          <a:xfrm>
            <a:off x="421476" y="4452055"/>
            <a:ext cx="2061446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Clear job allocation</a:t>
            </a:r>
            <a:endParaRPr lang="en-US" sz="1630" dirty="0"/>
          </a:p>
        </p:txBody>
      </p:sp>
      <p:sp>
        <p:nvSpPr>
          <p:cNvPr id="61" name="Text 36"/>
          <p:cNvSpPr txBox="1"/>
          <p:nvPr/>
        </p:nvSpPr>
        <p:spPr>
          <a:xfrm>
            <a:off x="445288" y="4666362"/>
            <a:ext cx="1680456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3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 records.</a:t>
            </a:r>
            <a:endParaRPr lang="en-US" sz="1830" dirty="0"/>
          </a:p>
        </p:txBody>
      </p:sp>
      <p:sp>
        <p:nvSpPr>
          <p:cNvPr id="62" name="Text 37"/>
          <p:cNvSpPr txBox="1"/>
          <p:nvPr/>
        </p:nvSpPr>
        <p:spPr>
          <a:xfrm>
            <a:off x="8422277" y="880269"/>
            <a:ext cx="3809905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30" b="1" dirty="0">
                <a:solidFill>
                  <a:srgbClr val="F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PILOT TARGETS (TO BE VALIDATED)</a:t>
            </a:r>
            <a:endParaRPr lang="en-US" sz="1430" dirty="0"/>
          </a:p>
        </p:txBody>
      </p:sp>
      <p:sp>
        <p:nvSpPr>
          <p:cNvPr id="63" name="Text 38"/>
          <p:cNvSpPr txBox="1"/>
          <p:nvPr/>
        </p:nvSpPr>
        <p:spPr>
          <a:xfrm>
            <a:off x="9757459" y="1357365"/>
            <a:ext cx="1962766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Days </a:t>
            </a:r>
            <a:r>
              <a:rPr lang="en-US" sz="2250" dirty="0">
                <a:solidFill>
                  <a:srgbClr val="C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(not weeks)</a:t>
            </a:r>
            <a:endParaRPr lang="en-US" sz="2250" dirty="0"/>
          </a:p>
        </p:txBody>
      </p:sp>
      <p:sp>
        <p:nvSpPr>
          <p:cNvPr id="64" name="Text 39"/>
          <p:cNvSpPr txBox="1"/>
          <p:nvPr/>
        </p:nvSpPr>
        <p:spPr>
          <a:xfrm>
            <a:off x="9517624" y="1820839"/>
            <a:ext cx="2905052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Accelerated issuance from</a:t>
            </a:r>
            <a:endParaRPr lang="en-US" sz="1630" dirty="0"/>
          </a:p>
        </p:txBody>
      </p:sp>
      <p:sp>
        <p:nvSpPr>
          <p:cNvPr id="65" name="Text 40"/>
          <p:cNvSpPr txBox="1"/>
          <p:nvPr/>
        </p:nvSpPr>
        <p:spPr>
          <a:xfrm>
            <a:off x="9779555" y="2047052"/>
            <a:ext cx="2549590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to certificate.</a:t>
            </a:r>
            <a:endParaRPr lang="en-US" sz="1630" dirty="0"/>
          </a:p>
        </p:txBody>
      </p:sp>
      <p:sp>
        <p:nvSpPr>
          <p:cNvPr id="66" name="Text 41"/>
          <p:cNvSpPr txBox="1"/>
          <p:nvPr/>
        </p:nvSpPr>
        <p:spPr>
          <a:xfrm>
            <a:off x="9691118" y="2632159"/>
            <a:ext cx="2388002" cy="152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370" b="1" dirty="0">
                <a:solidFill>
                  <a:srgbClr val="E6FF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</a:t>
            </a:r>
            <a:r>
              <a:rPr lang="en-US" sz="2370" dirty="0">
                <a:solidFill>
                  <a:srgbClr val="C5FF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237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70A584C-D77C-372E-5E9C-8FC2D5BBE071}"/>
              </a:ext>
            </a:extLst>
          </p:cNvPr>
          <p:cNvSpPr/>
          <p:nvPr/>
        </p:nvSpPr>
        <p:spPr>
          <a:xfrm>
            <a:off x="9501991" y="3715601"/>
            <a:ext cx="2701632" cy="421803"/>
          </a:xfrm>
          <a:prstGeom prst="rect">
            <a:avLst/>
          </a:prstGeom>
          <a:solidFill>
            <a:srgbClr val="F46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 42"/>
          <p:cNvSpPr txBox="1"/>
          <p:nvPr/>
        </p:nvSpPr>
        <p:spPr>
          <a:xfrm>
            <a:off x="9517625" y="3035246"/>
            <a:ext cx="34698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630" dirty="0"/>
          </a:p>
        </p:txBody>
      </p:sp>
      <p:sp>
        <p:nvSpPr>
          <p:cNvPr id="68" name="Text 43"/>
          <p:cNvSpPr txBox="1"/>
          <p:nvPr/>
        </p:nvSpPr>
        <p:spPr>
          <a:xfrm>
            <a:off x="9791462" y="3035245"/>
            <a:ext cx="2287659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certificates QR-verifiable</a:t>
            </a:r>
            <a:endParaRPr lang="en-US" sz="1630" dirty="0"/>
          </a:p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trusted.</a:t>
            </a:r>
            <a:endParaRPr lang="en-US" sz="1630" dirty="0"/>
          </a:p>
        </p:txBody>
      </p:sp>
      <p:sp>
        <p:nvSpPr>
          <p:cNvPr id="69" name="Text 44"/>
          <p:cNvSpPr txBox="1"/>
          <p:nvPr/>
        </p:nvSpPr>
        <p:spPr>
          <a:xfrm>
            <a:off x="9553853" y="3817432"/>
            <a:ext cx="2775293" cy="211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T-60/30/7 </a:t>
            </a:r>
            <a:r>
              <a:rPr lang="en-US" sz="2370" dirty="0">
                <a:solidFill>
                  <a:srgbClr val="FFE2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Reminders</a:t>
            </a:r>
            <a:endParaRPr lang="en-US" sz="2370" dirty="0"/>
          </a:p>
        </p:txBody>
      </p:sp>
      <p:sp>
        <p:nvSpPr>
          <p:cNvPr id="70" name="Text 45"/>
          <p:cNvSpPr txBox="1"/>
          <p:nvPr/>
        </p:nvSpPr>
        <p:spPr>
          <a:xfrm>
            <a:off x="9731932" y="4226699"/>
            <a:ext cx="2430531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Timely alerts avoid renewal</a:t>
            </a:r>
            <a:endParaRPr lang="en-US" sz="1590" dirty="0"/>
          </a:p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penalties.</a:t>
            </a:r>
            <a:endParaRPr lang="en-US" sz="1590" dirty="0"/>
          </a:p>
        </p:txBody>
      </p:sp>
      <p:sp>
        <p:nvSpPr>
          <p:cNvPr id="71" name="Text 46"/>
          <p:cNvSpPr txBox="1"/>
          <p:nvPr/>
        </p:nvSpPr>
        <p:spPr>
          <a:xfrm>
            <a:off x="9589919" y="4859433"/>
            <a:ext cx="2251941" cy="3920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50" b="1" dirty="0">
                <a:solidFill>
                  <a:srgbClr val="FF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view </a:t>
            </a:r>
            <a:r>
              <a:rPr lang="en-US" sz="2350" dirty="0">
                <a:solidFill>
                  <a:srgbClr val="FFE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pendency</a:t>
            </a:r>
            <a:endParaRPr lang="en-US" sz="2350" dirty="0"/>
          </a:p>
        </p:txBody>
      </p:sp>
      <p:sp>
        <p:nvSpPr>
          <p:cNvPr id="72" name="Text 47"/>
          <p:cNvSpPr txBox="1"/>
          <p:nvPr/>
        </p:nvSpPr>
        <p:spPr>
          <a:xfrm>
            <a:off x="9708120" y="5357764"/>
            <a:ext cx="2382907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view across all</a:t>
            </a:r>
            <a:endParaRPr lang="en-US" sz="1590" dirty="0"/>
          </a:p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jurisdictions.</a:t>
            </a:r>
            <a:endParaRPr lang="en-US" sz="1590" dirty="0"/>
          </a:p>
        </p:txBody>
      </p:sp>
      <p:sp>
        <p:nvSpPr>
          <p:cNvPr id="73" name="Text 48"/>
          <p:cNvSpPr txBox="1"/>
          <p:nvPr/>
        </p:nvSpPr>
        <p:spPr>
          <a:xfrm>
            <a:off x="659596" y="6011735"/>
            <a:ext cx="11358279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"India's first end-to-end traceable, community-powered waste solution—real rewards, real impact, real change."</a:t>
            </a:r>
            <a:endParaRPr lang="en-US" sz="1760" dirty="0"/>
          </a:p>
        </p:txBody>
      </p:sp>
      <p:sp>
        <p:nvSpPr>
          <p:cNvPr id="74" name="Text 49"/>
          <p:cNvSpPr txBox="1"/>
          <p:nvPr/>
        </p:nvSpPr>
        <p:spPr>
          <a:xfrm>
            <a:off x="5160046" y="6559408"/>
            <a:ext cx="2631215" cy="227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7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619C0FA-0C19-614C-BF3E-A2BA5DB16F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263" y="67400"/>
            <a:ext cx="1466094" cy="69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90693" y="1324980"/>
            <a:ext cx="2981206" cy="2760376"/>
          </a:xfrm>
          <a:prstGeom prst="roundRect">
            <a:avLst>
              <a:gd name="adj" fmla="val 1988"/>
            </a:avLst>
          </a:prstGeom>
          <a:solidFill>
            <a:srgbClr val="D9ECF5"/>
          </a:solidFill>
          <a:ln w="12700">
            <a:solidFill>
              <a:srgbClr val="D9EC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3242" y="1312712"/>
            <a:ext cx="2895327" cy="2772644"/>
          </a:xfrm>
          <a:prstGeom prst="roundRect">
            <a:avLst>
              <a:gd name="adj" fmla="val 1979"/>
            </a:avLst>
          </a:prstGeom>
          <a:solidFill>
            <a:srgbClr val="D9EFE2"/>
          </a:solidFill>
          <a:ln w="12700">
            <a:solidFill>
              <a:srgbClr val="D9EF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0693" y="4187792"/>
            <a:ext cx="2981206" cy="2342796"/>
          </a:xfrm>
          <a:prstGeom prst="roundRect">
            <a:avLst>
              <a:gd name="adj" fmla="val 2203"/>
            </a:avLst>
          </a:prstGeom>
          <a:solidFill>
            <a:srgbClr val="F6E0ED"/>
          </a:solidFill>
          <a:ln w="12700">
            <a:solidFill>
              <a:srgbClr val="F6E0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45510" y="4158966"/>
            <a:ext cx="2883059" cy="2392098"/>
          </a:xfrm>
          <a:prstGeom prst="roundRect">
            <a:avLst>
              <a:gd name="adj" fmla="val 2203"/>
            </a:avLst>
          </a:prstGeom>
          <a:solidFill>
            <a:srgbClr val="FCEFCC"/>
          </a:solidFill>
          <a:ln w="12700">
            <a:solidFill>
              <a:srgbClr val="FCEFC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914" y="3422866"/>
            <a:ext cx="2649961" cy="0"/>
          </a:xfrm>
          <a:prstGeom prst="line">
            <a:avLst/>
          </a:prstGeom>
          <a:noFill/>
          <a:ln w="15875">
            <a:solidFill>
              <a:srgbClr val="C7D8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278" y="1251370"/>
            <a:ext cx="355782" cy="355782"/>
          </a:xfrm>
          <a:prstGeom prst="ellipse">
            <a:avLst/>
          </a:prstGeom>
          <a:solidFill>
            <a:srgbClr val="8ABBD9"/>
          </a:solidFill>
          <a:ln w="12700">
            <a:solidFill>
              <a:srgbClr val="8ABB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4167" y="1239102"/>
            <a:ext cx="355782" cy="355782"/>
          </a:xfrm>
          <a:prstGeom prst="ellipse">
            <a:avLst/>
          </a:prstGeom>
          <a:solidFill>
            <a:srgbClr val="88CBA8"/>
          </a:solidFill>
          <a:ln w="12700">
            <a:solidFill>
              <a:srgbClr val="88CBA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16" y="4109894"/>
            <a:ext cx="343513" cy="343513"/>
          </a:xfrm>
          <a:prstGeom prst="ellipse">
            <a:avLst/>
          </a:prstGeom>
          <a:solidFill>
            <a:srgbClr val="D79CCB"/>
          </a:solidFill>
          <a:ln w="12700">
            <a:solidFill>
              <a:srgbClr val="D79CC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0973" y="4134430"/>
            <a:ext cx="331245" cy="331245"/>
          </a:xfrm>
          <a:prstGeom prst="ellipse">
            <a:avLst/>
          </a:prstGeom>
          <a:solidFill>
            <a:srgbClr val="F1C85D"/>
          </a:solidFill>
          <a:ln w="12700">
            <a:solidFill>
              <a:srgbClr val="F1C85D">
                <a:alpha val="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438855"/>
              </p:ext>
            </p:extLst>
          </p:nvPr>
        </p:nvGraphicFramePr>
        <p:xfrm>
          <a:off x="6437129" y="1533541"/>
          <a:ext cx="5962411" cy="4956409"/>
        </p:xfrm>
        <a:graphic>
          <a:graphicData uri="http://schemas.openxmlformats.org/drawingml/2006/table">
            <a:tbl>
              <a:tblPr/>
              <a:tblGrid>
                <a:gridCol w="2932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1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8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RISK</a:t>
                      </a:r>
                      <a:endParaRPr lang="en-US" sz="14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SOLUTION/MITIGATION</a:t>
                      </a:r>
                      <a:endParaRPr lang="en-US" sz="14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50653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POOR FIELD CONNECTIVITY: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8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Unstable/limited internet 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3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remote areas.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D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OFFLINE-FIRST APP, AUTO-SYNC,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CONFLICT RULES.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7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7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 storage, predefined resolution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E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 DIGITAL LITERACY: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70"/>
                        </a:spcBef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 uncomfortable with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0A03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complex systems.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D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MOBILE-FIRST, REGIONAL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LANGUAGES, OTP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SMS/WHATSAPP, HELPDESK.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10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Adoptions as a *design* problem.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992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E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5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CERTIFICATE FORGERY: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copying, altering, or falsely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representing.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C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SIGNED QR, PUBLIC VERIFICATION,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SERIAL-LINKED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PHYSICAL STAMP.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A0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Digital +Physical traceability combined.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STATE-WISE RULE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DIFFERENCES: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Workflows, fees, jurisdictions,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structures differ.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99347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2C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CONFIGURABLE WORKFLOW,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2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 MASTERS,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JURISDICTION MASTERS.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6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Common platform, configurable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E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PRIVACY &amp; SECURITY: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C00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handling sensitive user/admin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0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information.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161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CA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ROLE-BASED ACCESS CONTROL (RBAC),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 TRAILS, DPDP-ALIGNED DESIGN,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0600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VAPT. Accountability and risk check.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D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33" y="1386323"/>
            <a:ext cx="723832" cy="613417"/>
          </a:xfrm>
          <a:prstGeom prst="rect">
            <a:avLst/>
          </a:prstGeom>
        </p:spPr>
      </p:pic>
      <p:pic>
        <p:nvPicPr>
          <p:cNvPr id="14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877" y="4306186"/>
            <a:ext cx="613417" cy="601148"/>
          </a:xfrm>
          <a:prstGeom prst="rect">
            <a:avLst/>
          </a:prstGeom>
        </p:spPr>
      </p:pic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949" y="1423127"/>
            <a:ext cx="601148" cy="588880"/>
          </a:xfrm>
          <a:prstGeom prst="rect">
            <a:avLst/>
          </a:prstGeom>
        </p:spPr>
      </p:pic>
      <p:pic>
        <p:nvPicPr>
          <p:cNvPr id="1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678" y="4453406"/>
            <a:ext cx="552075" cy="515270"/>
          </a:xfrm>
          <a:prstGeom prst="rect">
            <a:avLst/>
          </a:prstGeom>
        </p:spPr>
      </p:pic>
      <p:pic>
        <p:nvPicPr>
          <p:cNvPr id="17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619" y="3962901"/>
            <a:ext cx="441660" cy="588880"/>
          </a:xfrm>
          <a:prstGeom prst="rect">
            <a:avLst/>
          </a:prstGeom>
        </p:spPr>
      </p:pic>
      <p:pic>
        <p:nvPicPr>
          <p:cNvPr id="18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562" y="4888932"/>
            <a:ext cx="503002" cy="515270"/>
          </a:xfrm>
          <a:prstGeom prst="rect">
            <a:avLst/>
          </a:prstGeom>
        </p:spPr>
      </p:pic>
      <p:pic>
        <p:nvPicPr>
          <p:cNvPr id="19" name="Image 6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814" y="3153191"/>
            <a:ext cx="576612" cy="441660"/>
          </a:xfrm>
          <a:prstGeom prst="rect">
            <a:avLst/>
          </a:prstGeom>
        </p:spPr>
      </p:pic>
      <p:pic>
        <p:nvPicPr>
          <p:cNvPr id="20" name="Image 7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549" y="4453407"/>
            <a:ext cx="478465" cy="490733"/>
          </a:xfrm>
          <a:prstGeom prst="rect">
            <a:avLst/>
          </a:prstGeom>
        </p:spPr>
      </p:pic>
      <p:pic>
        <p:nvPicPr>
          <p:cNvPr id="21" name="Image 8" descr="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082" y="2282140"/>
            <a:ext cx="527538" cy="429392"/>
          </a:xfrm>
          <a:prstGeom prst="rect">
            <a:avLst/>
          </a:prstGeom>
        </p:spPr>
      </p:pic>
      <p:pic>
        <p:nvPicPr>
          <p:cNvPr id="22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3424" y="5790655"/>
            <a:ext cx="404855" cy="503002"/>
          </a:xfrm>
          <a:prstGeom prst="rect">
            <a:avLst/>
          </a:prstGeom>
        </p:spPr>
      </p:pic>
      <p:pic>
        <p:nvPicPr>
          <p:cNvPr id="23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6841" y="1619422"/>
            <a:ext cx="417123" cy="380318"/>
          </a:xfrm>
          <a:prstGeom prst="rect">
            <a:avLst/>
          </a:prstGeom>
        </p:spPr>
      </p:pic>
      <p:pic>
        <p:nvPicPr>
          <p:cNvPr id="24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1019" y="1582617"/>
            <a:ext cx="368050" cy="417123"/>
          </a:xfrm>
          <a:prstGeom prst="rect">
            <a:avLst/>
          </a:prstGeom>
        </p:spPr>
      </p:pic>
      <p:pic>
        <p:nvPicPr>
          <p:cNvPr id="25" name="Image 12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7073" y="1570348"/>
            <a:ext cx="294440" cy="466197"/>
          </a:xfrm>
          <a:prstGeom prst="rect">
            <a:avLst/>
          </a:prstGeom>
        </p:spPr>
      </p:pic>
      <p:pic>
        <p:nvPicPr>
          <p:cNvPr id="26" name="Image 13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060" y="4355259"/>
            <a:ext cx="220830" cy="588880"/>
          </a:xfrm>
          <a:prstGeom prst="rect">
            <a:avLst/>
          </a:prstGeom>
        </p:spPr>
      </p:pic>
      <p:pic>
        <p:nvPicPr>
          <p:cNvPr id="27" name="Image 14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3144" y="5839728"/>
            <a:ext cx="294440" cy="306708"/>
          </a:xfrm>
          <a:prstGeom prst="rect">
            <a:avLst/>
          </a:prstGeom>
        </p:spPr>
      </p:pic>
      <p:pic>
        <p:nvPicPr>
          <p:cNvPr id="28" name="Image 15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3144" y="6207778"/>
            <a:ext cx="294440" cy="282172"/>
          </a:xfrm>
          <a:prstGeom prst="rect">
            <a:avLst/>
          </a:prstGeom>
        </p:spPr>
      </p:pic>
      <p:pic>
        <p:nvPicPr>
          <p:cNvPr id="29" name="Image 16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5162" y="2809450"/>
            <a:ext cx="306708" cy="257635"/>
          </a:xfrm>
          <a:prstGeom prst="rect">
            <a:avLst/>
          </a:prstGeom>
        </p:spPr>
      </p:pic>
      <p:pic>
        <p:nvPicPr>
          <p:cNvPr id="30" name="Image 17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41802" y="2429132"/>
            <a:ext cx="306708" cy="257635"/>
          </a:xfrm>
          <a:prstGeom prst="rect">
            <a:avLst/>
          </a:prstGeom>
        </p:spPr>
      </p:pic>
      <p:pic>
        <p:nvPicPr>
          <p:cNvPr id="31" name="Image 18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0182" y="3140695"/>
            <a:ext cx="282172" cy="269903"/>
          </a:xfrm>
          <a:prstGeom prst="rect">
            <a:avLst/>
          </a:prstGeom>
        </p:spPr>
      </p:pic>
      <p:pic>
        <p:nvPicPr>
          <p:cNvPr id="32" name="Image 19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183" y="2784912"/>
            <a:ext cx="269903" cy="282172"/>
          </a:xfrm>
          <a:prstGeom prst="rect">
            <a:avLst/>
          </a:prstGeom>
        </p:spPr>
      </p:pic>
      <p:pic>
        <p:nvPicPr>
          <p:cNvPr id="33" name="Image 20" descr="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87430" y="2441400"/>
            <a:ext cx="282172" cy="269903"/>
          </a:xfrm>
          <a:prstGeom prst="rect">
            <a:avLst/>
          </a:prstGeom>
        </p:spPr>
      </p:pic>
      <p:pic>
        <p:nvPicPr>
          <p:cNvPr id="34" name="Image 21" descr="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87614" y="3165231"/>
            <a:ext cx="257635" cy="282172"/>
          </a:xfrm>
          <a:prstGeom prst="rect">
            <a:avLst/>
          </a:prstGeom>
        </p:spPr>
      </p:pic>
      <p:pic>
        <p:nvPicPr>
          <p:cNvPr id="35" name="Image 22" descr="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6340" y="3202037"/>
            <a:ext cx="269903" cy="257635"/>
          </a:xfrm>
          <a:prstGeom prst="rect">
            <a:avLst/>
          </a:prstGeom>
        </p:spPr>
      </p:pic>
      <p:pic>
        <p:nvPicPr>
          <p:cNvPr id="36" name="Image 23" descr="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75344" y="2809450"/>
            <a:ext cx="282172" cy="245367"/>
          </a:xfrm>
          <a:prstGeom prst="rect">
            <a:avLst/>
          </a:prstGeom>
        </p:spPr>
      </p:pic>
      <p:pic>
        <p:nvPicPr>
          <p:cNvPr id="37" name="Image 24" descr="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15412" y="5263117"/>
            <a:ext cx="282172" cy="245367"/>
          </a:xfrm>
          <a:prstGeom prst="rect">
            <a:avLst/>
          </a:prstGeom>
        </p:spPr>
      </p:pic>
      <p:pic>
        <p:nvPicPr>
          <p:cNvPr id="38" name="Image 25" descr="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66340" y="2919865"/>
            <a:ext cx="257635" cy="257635"/>
          </a:xfrm>
          <a:prstGeom prst="rect">
            <a:avLst/>
          </a:prstGeom>
        </p:spPr>
      </p:pic>
      <p:pic>
        <p:nvPicPr>
          <p:cNvPr id="39" name="Image 26" descr="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41803" y="3655965"/>
            <a:ext cx="269903" cy="245367"/>
          </a:xfrm>
          <a:prstGeom prst="rect">
            <a:avLst/>
          </a:prstGeom>
        </p:spPr>
      </p:pic>
      <p:pic>
        <p:nvPicPr>
          <p:cNvPr id="40" name="Image 27" descr="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27682" y="5520752"/>
            <a:ext cx="245367" cy="269903"/>
          </a:xfrm>
          <a:prstGeom prst="rect">
            <a:avLst/>
          </a:prstGeom>
        </p:spPr>
      </p:pic>
      <p:pic>
        <p:nvPicPr>
          <p:cNvPr id="41" name="Image 28" descr="icon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4718" y="2429131"/>
            <a:ext cx="233098" cy="282172"/>
          </a:xfrm>
          <a:prstGeom prst="rect">
            <a:avLst/>
          </a:prstGeom>
        </p:spPr>
      </p:pic>
      <p:pic>
        <p:nvPicPr>
          <p:cNvPr id="42" name="Image 29" descr="icon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9881" y="2429132"/>
            <a:ext cx="233098" cy="269903"/>
          </a:xfrm>
          <a:prstGeom prst="rect">
            <a:avLst/>
          </a:prstGeom>
        </p:spPr>
      </p:pic>
      <p:pic>
        <p:nvPicPr>
          <p:cNvPr id="43" name="Image 30" descr="icon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7913" y="3643696"/>
            <a:ext cx="220830" cy="282172"/>
          </a:xfrm>
          <a:prstGeom prst="rect">
            <a:avLst/>
          </a:prstGeom>
        </p:spPr>
      </p:pic>
      <p:sp>
        <p:nvSpPr>
          <p:cNvPr id="44" name="Text 10"/>
          <p:cNvSpPr txBox="1"/>
          <p:nvPr/>
        </p:nvSpPr>
        <p:spPr>
          <a:xfrm>
            <a:off x="302962" y="932623"/>
            <a:ext cx="5618440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PHASES: </a:t>
            </a:r>
            <a:r>
              <a:rPr lang="en-US" sz="15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GROWTH STRATEGY</a:t>
            </a:r>
            <a:endParaRPr lang="en-US" sz="1570" dirty="0"/>
          </a:p>
        </p:txBody>
      </p:sp>
      <p:sp>
        <p:nvSpPr>
          <p:cNvPr id="46" name="Text 12"/>
          <p:cNvSpPr txBox="1"/>
          <p:nvPr/>
        </p:nvSpPr>
        <p:spPr>
          <a:xfrm>
            <a:off x="1370308" y="1521274"/>
            <a:ext cx="1852061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PROVE</a:t>
            </a:r>
            <a:endParaRPr lang="en-US" sz="1170" dirty="0"/>
          </a:p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170" dirty="0"/>
          </a:p>
        </p:txBody>
      </p:sp>
      <p:sp>
        <p:nvSpPr>
          <p:cNvPr id="47" name="Text 13"/>
          <p:cNvSpPr txBox="1"/>
          <p:nvPr/>
        </p:nvSpPr>
        <p:spPr>
          <a:xfrm>
            <a:off x="474718" y="2098116"/>
            <a:ext cx="2637692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2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basic end-to-end system.</a:t>
            </a:r>
            <a:endParaRPr lang="en-US" sz="1220" dirty="0"/>
          </a:p>
        </p:txBody>
      </p:sp>
      <p:sp>
        <p:nvSpPr>
          <p:cNvPr id="48" name="Text 14"/>
          <p:cNvSpPr txBox="1"/>
          <p:nvPr/>
        </p:nvSpPr>
        <p:spPr>
          <a:xfrm>
            <a:off x="744622" y="2417091"/>
            <a:ext cx="870594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49" name="Text 15"/>
          <p:cNvSpPr txBox="1"/>
          <p:nvPr/>
        </p:nvSpPr>
        <p:spPr>
          <a:xfrm>
            <a:off x="2081871" y="2404594"/>
            <a:ext cx="1128229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Workflow</a:t>
            </a:r>
            <a:endParaRPr lang="en-US" sz="1070" dirty="0"/>
          </a:p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070" dirty="0"/>
          </a:p>
        </p:txBody>
      </p:sp>
      <p:sp>
        <p:nvSpPr>
          <p:cNvPr id="50" name="Text 16"/>
          <p:cNvSpPr txBox="1"/>
          <p:nvPr/>
        </p:nvSpPr>
        <p:spPr>
          <a:xfrm>
            <a:off x="732353" y="2711532"/>
            <a:ext cx="674300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080" dirty="0"/>
          </a:p>
        </p:txBody>
      </p:sp>
      <p:sp>
        <p:nvSpPr>
          <p:cNvPr id="51" name="Text 17"/>
          <p:cNvSpPr txBox="1"/>
          <p:nvPr/>
        </p:nvSpPr>
        <p:spPr>
          <a:xfrm>
            <a:off x="744623" y="2871021"/>
            <a:ext cx="846057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180" dirty="0"/>
          </a:p>
        </p:txBody>
      </p:sp>
      <p:sp>
        <p:nvSpPr>
          <p:cNvPr id="52" name="Text 18"/>
          <p:cNvSpPr txBox="1"/>
          <p:nvPr/>
        </p:nvSpPr>
        <p:spPr>
          <a:xfrm>
            <a:off x="744623" y="3153191"/>
            <a:ext cx="128771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Dashboard</a:t>
            </a:r>
            <a:endParaRPr lang="en-US" sz="1100" dirty="0"/>
          </a:p>
        </p:txBody>
      </p:sp>
      <p:sp>
        <p:nvSpPr>
          <p:cNvPr id="53" name="Text 19"/>
          <p:cNvSpPr txBox="1"/>
          <p:nvPr/>
        </p:nvSpPr>
        <p:spPr>
          <a:xfrm>
            <a:off x="2057335" y="2821947"/>
            <a:ext cx="1214107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Page</a:t>
            </a:r>
            <a:endParaRPr lang="en-US" sz="1150" dirty="0"/>
          </a:p>
        </p:txBody>
      </p:sp>
      <p:sp>
        <p:nvSpPr>
          <p:cNvPr id="54" name="Text 20"/>
          <p:cNvSpPr txBox="1"/>
          <p:nvPr/>
        </p:nvSpPr>
        <p:spPr>
          <a:xfrm>
            <a:off x="180278" y="1214794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80" dirty="0"/>
          </a:p>
        </p:txBody>
      </p:sp>
      <p:sp>
        <p:nvSpPr>
          <p:cNvPr id="55" name="Text 21"/>
          <p:cNvSpPr txBox="1"/>
          <p:nvPr/>
        </p:nvSpPr>
        <p:spPr>
          <a:xfrm>
            <a:off x="3284167" y="1202526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80" dirty="0"/>
          </a:p>
        </p:txBody>
      </p:sp>
      <p:sp>
        <p:nvSpPr>
          <p:cNvPr id="56" name="Text 22"/>
          <p:cNvSpPr txBox="1"/>
          <p:nvPr/>
        </p:nvSpPr>
        <p:spPr>
          <a:xfrm>
            <a:off x="4425124" y="1509006"/>
            <a:ext cx="1802987" cy="47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REAL-WORLD</a:t>
            </a:r>
            <a:endParaRPr lang="en-US" sz="1190" dirty="0"/>
          </a:p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190" dirty="0"/>
          </a:p>
        </p:txBody>
      </p:sp>
      <p:sp>
        <p:nvSpPr>
          <p:cNvPr id="57" name="Text 23"/>
          <p:cNvSpPr txBox="1"/>
          <p:nvPr/>
        </p:nvSpPr>
        <p:spPr>
          <a:xfrm>
            <a:off x="3517266" y="2098116"/>
            <a:ext cx="233098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0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for actual field usage</a:t>
            </a:r>
            <a:endParaRPr lang="en-US" sz="1240" dirty="0"/>
          </a:p>
        </p:txBody>
      </p:sp>
      <p:sp>
        <p:nvSpPr>
          <p:cNvPr id="58" name="Text 24"/>
          <p:cNvSpPr txBox="1"/>
          <p:nvPr/>
        </p:nvSpPr>
        <p:spPr>
          <a:xfrm>
            <a:off x="3860779" y="2404823"/>
            <a:ext cx="1250912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0" dirty="0">
                <a:solidFill>
                  <a:srgbClr val="000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App (local</a:t>
            </a:r>
            <a:endParaRPr lang="en-US" sz="1020" dirty="0"/>
          </a:p>
        </p:txBody>
      </p:sp>
      <p:sp>
        <p:nvSpPr>
          <p:cNvPr id="59" name="Text 25"/>
          <p:cNvSpPr txBox="1"/>
          <p:nvPr/>
        </p:nvSpPr>
        <p:spPr>
          <a:xfrm>
            <a:off x="3860780" y="2527506"/>
            <a:ext cx="1361327" cy="30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90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sync when</a:t>
            </a:r>
            <a:endParaRPr lang="en-US" sz="1020" dirty="0"/>
          </a:p>
        </p:txBody>
      </p:sp>
      <p:sp>
        <p:nvSpPr>
          <p:cNvPr id="60" name="Text 26"/>
          <p:cNvSpPr txBox="1"/>
          <p:nvPr/>
        </p:nvSpPr>
        <p:spPr>
          <a:xfrm>
            <a:off x="3860780" y="2723801"/>
            <a:ext cx="83378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20" dirty="0">
                <a:solidFill>
                  <a:srgbClr val="00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connected)</a:t>
            </a:r>
            <a:endParaRPr lang="en-US" sz="1020" dirty="0"/>
          </a:p>
        </p:txBody>
      </p:sp>
      <p:sp>
        <p:nvSpPr>
          <p:cNvPr id="61" name="Text 27"/>
          <p:cNvSpPr txBox="1"/>
          <p:nvPr/>
        </p:nvSpPr>
        <p:spPr>
          <a:xfrm>
            <a:off x="3836243" y="2932362"/>
            <a:ext cx="80925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0" dirty="0">
                <a:solidFill>
                  <a:srgbClr val="000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130" dirty="0"/>
          </a:p>
        </p:txBody>
      </p:sp>
      <p:sp>
        <p:nvSpPr>
          <p:cNvPr id="62" name="Text 28"/>
          <p:cNvSpPr txBox="1"/>
          <p:nvPr/>
        </p:nvSpPr>
        <p:spPr>
          <a:xfrm>
            <a:off x="5369786" y="2453896"/>
            <a:ext cx="490275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40" b="1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40" dirty="0"/>
          </a:p>
        </p:txBody>
      </p:sp>
      <p:sp>
        <p:nvSpPr>
          <p:cNvPr id="63" name="Text 29"/>
          <p:cNvSpPr txBox="1"/>
          <p:nvPr/>
        </p:nvSpPr>
        <p:spPr>
          <a:xfrm>
            <a:off x="5369785" y="2821717"/>
            <a:ext cx="735642" cy="37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as</a:t>
            </a:r>
            <a:endParaRPr lang="en-US" sz="1120" dirty="0"/>
          </a:p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20" dirty="0"/>
          </a:p>
        </p:txBody>
      </p:sp>
      <p:sp>
        <p:nvSpPr>
          <p:cNvPr id="64" name="Text 30"/>
          <p:cNvSpPr txBox="1"/>
          <p:nvPr/>
        </p:nvSpPr>
        <p:spPr>
          <a:xfrm>
            <a:off x="5369786" y="3189997"/>
            <a:ext cx="8337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dirty="0">
                <a:solidFill>
                  <a:srgbClr val="000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110" dirty="0"/>
          </a:p>
        </p:txBody>
      </p:sp>
      <p:sp>
        <p:nvSpPr>
          <p:cNvPr id="65" name="Text 31"/>
          <p:cNvSpPr txBox="1"/>
          <p:nvPr/>
        </p:nvSpPr>
        <p:spPr>
          <a:xfrm>
            <a:off x="3848512" y="3214533"/>
            <a:ext cx="478007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10" dirty="0"/>
          </a:p>
        </p:txBody>
      </p:sp>
      <p:sp>
        <p:nvSpPr>
          <p:cNvPr id="66" name="Text 32"/>
          <p:cNvSpPr txBox="1"/>
          <p:nvPr/>
        </p:nvSpPr>
        <p:spPr>
          <a:xfrm>
            <a:off x="671012" y="3582583"/>
            <a:ext cx="1079156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FEASIBLE:</a:t>
            </a:r>
            <a:endParaRPr lang="en-US" sz="970" dirty="0"/>
          </a:p>
        </p:txBody>
      </p:sp>
      <p:sp>
        <p:nvSpPr>
          <p:cNvPr id="67" name="Text 33"/>
          <p:cNvSpPr txBox="1"/>
          <p:nvPr/>
        </p:nvSpPr>
        <p:spPr>
          <a:xfrm>
            <a:off x="1677016" y="3582583"/>
            <a:ext cx="150854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7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web/mobile</a:t>
            </a:r>
            <a:endParaRPr lang="en-US" sz="1040" dirty="0"/>
          </a:p>
        </p:txBody>
      </p:sp>
      <p:sp>
        <p:nvSpPr>
          <p:cNvPr id="68" name="Text 34"/>
          <p:cNvSpPr txBox="1"/>
          <p:nvPr/>
        </p:nvSpPr>
        <p:spPr>
          <a:xfrm>
            <a:off x="695549" y="3754341"/>
            <a:ext cx="237959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capabilities, existing technologies.</a:t>
            </a:r>
            <a:endParaRPr lang="en-US" sz="1040" dirty="0"/>
          </a:p>
        </p:txBody>
      </p:sp>
      <p:sp>
        <p:nvSpPr>
          <p:cNvPr id="69" name="Text 35"/>
          <p:cNvSpPr txBox="1"/>
          <p:nvPr/>
        </p:nvSpPr>
        <p:spPr>
          <a:xfrm>
            <a:off x="3811707" y="3606891"/>
            <a:ext cx="2134233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CONNECTIVITY GAP</a:t>
            </a:r>
            <a:endParaRPr lang="en-US" sz="940" dirty="0"/>
          </a:p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RURAL AREAS.</a:t>
            </a:r>
            <a:endParaRPr lang="en-US" sz="940" dirty="0"/>
          </a:p>
        </p:txBody>
      </p:sp>
      <p:sp>
        <p:nvSpPr>
          <p:cNvPr id="70" name="Text 36"/>
          <p:cNvSpPr txBox="1"/>
          <p:nvPr/>
        </p:nvSpPr>
        <p:spPr>
          <a:xfrm>
            <a:off x="204816" y="4073318"/>
            <a:ext cx="343513" cy="416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71" name="Text 37"/>
          <p:cNvSpPr txBox="1"/>
          <p:nvPr/>
        </p:nvSpPr>
        <p:spPr>
          <a:xfrm>
            <a:off x="1235356" y="4367529"/>
            <a:ext cx="1582157" cy="63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- VALIDATE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FULL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60" dirty="0"/>
          </a:p>
        </p:txBody>
      </p:sp>
      <p:sp>
        <p:nvSpPr>
          <p:cNvPr id="72" name="Text 38"/>
          <p:cNvSpPr txBox="1"/>
          <p:nvPr/>
        </p:nvSpPr>
        <p:spPr>
          <a:xfrm>
            <a:off x="425645" y="5017979"/>
            <a:ext cx="2404136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900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limited geographical area.</a:t>
            </a:r>
            <a:endParaRPr lang="en-US" sz="1220" dirty="0"/>
          </a:p>
        </p:txBody>
      </p:sp>
      <p:sp>
        <p:nvSpPr>
          <p:cNvPr id="73" name="Text 39"/>
          <p:cNvSpPr txBox="1"/>
          <p:nvPr/>
        </p:nvSpPr>
        <p:spPr>
          <a:xfrm>
            <a:off x="413378" y="5324688"/>
            <a:ext cx="141040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70" b="1" dirty="0">
                <a:solidFill>
                  <a:srgbClr val="060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keys:</a:t>
            </a:r>
            <a:endParaRPr lang="en-US" sz="1170" dirty="0"/>
          </a:p>
        </p:txBody>
      </p:sp>
      <p:sp>
        <p:nvSpPr>
          <p:cNvPr id="74" name="Text 40"/>
          <p:cNvSpPr txBox="1"/>
          <p:nvPr/>
        </p:nvSpPr>
        <p:spPr>
          <a:xfrm>
            <a:off x="499256" y="5520980"/>
            <a:ext cx="895131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state</a:t>
            </a:r>
            <a:endParaRPr lang="en-US" sz="1280" dirty="0"/>
          </a:p>
        </p:txBody>
      </p:sp>
      <p:sp>
        <p:nvSpPr>
          <p:cNvPr id="75" name="Text 41"/>
          <p:cNvSpPr txBox="1"/>
          <p:nvPr/>
        </p:nvSpPr>
        <p:spPr>
          <a:xfrm>
            <a:off x="486988" y="5680470"/>
            <a:ext cx="105461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1-2 districts</a:t>
            </a:r>
            <a:endParaRPr lang="en-US" sz="1300" dirty="0"/>
          </a:p>
        </p:txBody>
      </p:sp>
      <p:sp>
        <p:nvSpPr>
          <p:cNvPr id="76" name="Text 42"/>
          <p:cNvSpPr txBox="1"/>
          <p:nvPr/>
        </p:nvSpPr>
        <p:spPr>
          <a:xfrm>
            <a:off x="486988" y="5852226"/>
            <a:ext cx="23059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A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UAT (User Acceptance Testing)</a:t>
            </a:r>
            <a:endParaRPr lang="en-US" sz="1180" dirty="0"/>
          </a:p>
        </p:txBody>
      </p:sp>
      <p:sp>
        <p:nvSpPr>
          <p:cNvPr id="77" name="Text 43"/>
          <p:cNvSpPr txBox="1"/>
          <p:nvPr/>
        </p:nvSpPr>
        <p:spPr>
          <a:xfrm>
            <a:off x="486988" y="6036251"/>
            <a:ext cx="118957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Audit</a:t>
            </a:r>
            <a:endParaRPr lang="en-US" sz="1220" dirty="0"/>
          </a:p>
        </p:txBody>
      </p:sp>
      <p:sp>
        <p:nvSpPr>
          <p:cNvPr id="78" name="Text 44"/>
          <p:cNvSpPr txBox="1"/>
          <p:nvPr/>
        </p:nvSpPr>
        <p:spPr>
          <a:xfrm>
            <a:off x="425646" y="6306155"/>
            <a:ext cx="2796723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risk before multi-state expansion.</a:t>
            </a:r>
            <a:endParaRPr lang="en-US" sz="1100" dirty="0"/>
          </a:p>
        </p:txBody>
      </p:sp>
      <p:sp>
        <p:nvSpPr>
          <p:cNvPr id="79" name="Text 45"/>
          <p:cNvSpPr txBox="1"/>
          <p:nvPr/>
        </p:nvSpPr>
        <p:spPr>
          <a:xfrm>
            <a:off x="3320973" y="4097854"/>
            <a:ext cx="331245" cy="4043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4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40" dirty="0"/>
          </a:p>
        </p:txBody>
      </p:sp>
      <p:sp>
        <p:nvSpPr>
          <p:cNvPr id="80" name="Text 46"/>
          <p:cNvSpPr txBox="1"/>
          <p:nvPr/>
        </p:nvSpPr>
        <p:spPr>
          <a:xfrm>
            <a:off x="4314709" y="4404333"/>
            <a:ext cx="1508547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- EXPAND</a:t>
            </a:r>
            <a:endParaRPr lang="en-US" sz="1190" dirty="0"/>
          </a:p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</a:t>
            </a:r>
            <a:endParaRPr lang="en-US" sz="1190" dirty="0"/>
          </a:p>
        </p:txBody>
      </p:sp>
      <p:sp>
        <p:nvSpPr>
          <p:cNvPr id="81" name="Text 47"/>
          <p:cNvSpPr txBox="1"/>
          <p:nvPr/>
        </p:nvSpPr>
        <p:spPr>
          <a:xfrm>
            <a:off x="3541802" y="4981175"/>
            <a:ext cx="204881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expansion after pilot</a:t>
            </a:r>
            <a:endParaRPr lang="en-US" sz="1240" dirty="0"/>
          </a:p>
        </p:txBody>
      </p:sp>
      <p:sp>
        <p:nvSpPr>
          <p:cNvPr id="82" name="Text 48"/>
          <p:cNvSpPr txBox="1"/>
          <p:nvPr/>
        </p:nvSpPr>
        <p:spPr>
          <a:xfrm>
            <a:off x="3946658" y="5263346"/>
            <a:ext cx="152127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7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Multi-state onboarding</a:t>
            </a:r>
            <a:endParaRPr lang="en-US" sz="1170" dirty="0"/>
          </a:p>
        </p:txBody>
      </p:sp>
      <p:sp>
        <p:nvSpPr>
          <p:cNvPr id="83" name="Text 49"/>
          <p:cNvSpPr txBox="1"/>
          <p:nvPr/>
        </p:nvSpPr>
        <p:spPr>
          <a:xfrm>
            <a:off x="3946658" y="5520981"/>
            <a:ext cx="1815714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60" dirty="0">
                <a:solidFill>
                  <a:srgbClr val="080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from legacy</a:t>
            </a:r>
            <a:endParaRPr lang="en-US" sz="1160" dirty="0"/>
          </a:p>
        </p:txBody>
      </p:sp>
      <p:sp>
        <p:nvSpPr>
          <p:cNvPr id="84" name="Text 50"/>
          <p:cNvSpPr txBox="1"/>
          <p:nvPr/>
        </p:nvSpPr>
        <p:spPr>
          <a:xfrm>
            <a:off x="3934389" y="5815191"/>
            <a:ext cx="1827524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(Usage patterns,</a:t>
            </a:r>
            <a:endParaRPr lang="en-US" sz="1120" dirty="0"/>
          </a:p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performance)</a:t>
            </a:r>
            <a:endParaRPr lang="en-US" sz="1120" dirty="0"/>
          </a:p>
        </p:txBody>
      </p:sp>
      <p:sp>
        <p:nvSpPr>
          <p:cNvPr id="85" name="Text 51"/>
          <p:cNvSpPr txBox="1"/>
          <p:nvPr/>
        </p:nvSpPr>
        <p:spPr>
          <a:xfrm>
            <a:off x="3946658" y="6195739"/>
            <a:ext cx="1324980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80" dirty="0">
                <a:solidFill>
                  <a:srgbClr val="0E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scaling</a:t>
            </a:r>
            <a:endParaRPr lang="en-US" sz="1180" dirty="0"/>
          </a:p>
        </p:txBody>
      </p:sp>
      <p:sp>
        <p:nvSpPr>
          <p:cNvPr id="86" name="Text 52"/>
          <p:cNvSpPr txBox="1"/>
          <p:nvPr/>
        </p:nvSpPr>
        <p:spPr>
          <a:xfrm>
            <a:off x="6424861" y="932623"/>
            <a:ext cx="4170776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 STRATEGIES:</a:t>
            </a:r>
            <a:endParaRPr lang="en-US" sz="1620" dirty="0"/>
          </a:p>
        </p:txBody>
      </p:sp>
      <p:sp>
        <p:nvSpPr>
          <p:cNvPr id="87" name="Text 53"/>
          <p:cNvSpPr txBox="1"/>
          <p:nvPr/>
        </p:nvSpPr>
        <p:spPr>
          <a:xfrm>
            <a:off x="6424862" y="1214794"/>
            <a:ext cx="3594165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FEASIBILITY ADDRESS</a:t>
            </a:r>
            <a:endParaRPr lang="en-US" sz="1580" dirty="0"/>
          </a:p>
        </p:txBody>
      </p:sp>
      <p:sp>
        <p:nvSpPr>
          <p:cNvPr id="88" name="Shape 3">
            <a:extLst>
              <a:ext uri="{FF2B5EF4-FFF2-40B4-BE49-F238E27FC236}">
                <a16:creationId xmlns:a16="http://schemas.microsoft.com/office/drawing/2014/main" id="{1F2AF3EC-2B9E-B783-9D08-09557684722C}"/>
              </a:ext>
            </a:extLst>
          </p:cNvPr>
          <p:cNvSpPr/>
          <p:nvPr/>
        </p:nvSpPr>
        <p:spPr>
          <a:xfrm>
            <a:off x="74" y="6612632"/>
            <a:ext cx="12653319" cy="245368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sp>
        <p:nvSpPr>
          <p:cNvPr id="90" name="Text 74">
            <a:extLst>
              <a:ext uri="{FF2B5EF4-FFF2-40B4-BE49-F238E27FC236}">
                <a16:creationId xmlns:a16="http://schemas.microsoft.com/office/drawing/2014/main" id="{23FBF1E8-6398-FABE-6E25-C0E3F2E3F8BE}"/>
              </a:ext>
            </a:extLst>
          </p:cNvPr>
          <p:cNvSpPr txBox="1"/>
          <p:nvPr/>
        </p:nvSpPr>
        <p:spPr>
          <a:xfrm>
            <a:off x="5449404" y="6698077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1525B7-25A2-FBB2-6D5E-860AE249541A}"/>
              </a:ext>
            </a:extLst>
          </p:cNvPr>
          <p:cNvSpPr txBox="1"/>
          <p:nvPr/>
        </p:nvSpPr>
        <p:spPr>
          <a:xfrm>
            <a:off x="180278" y="81277"/>
            <a:ext cx="9712417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PROJECT FEASIBILITY &amp; ROLLOUT STRATEGY: </a:t>
            </a:r>
          </a:p>
          <a:p>
            <a:pPr algn="ctr"/>
            <a:r>
              <a:rPr lang="en-US" sz="24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PROTOTYPE TO NATIONWIDE SCALE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5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DFC2318-E29D-EC05-C595-730A4109601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1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                                                          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40581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lang="en-US" sz="28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9181" y="6356354"/>
            <a:ext cx="3204000" cy="365125"/>
          </a:xfrm>
        </p:spPr>
        <p:txBody>
          <a:bodyPr/>
          <a:lstStyle/>
          <a:p>
            <a:pPr algn="ctr" defTabSz="457200"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0755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2D3BF-8653-E2C0-D585-4DD77D75B018}"/>
              </a:ext>
            </a:extLst>
          </p:cNvPr>
          <p:cNvSpPr txBox="1"/>
          <p:nvPr/>
        </p:nvSpPr>
        <p:spPr>
          <a:xfrm>
            <a:off x="2801074" y="393539"/>
            <a:ext cx="4732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74938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9181" y="6356354"/>
            <a:ext cx="3204000" cy="365125"/>
          </a:xfrm>
        </p:spPr>
        <p:txBody>
          <a:bodyPr/>
          <a:lstStyle/>
          <a:p>
            <a:pPr algn="ctr" defTabSz="457200"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230981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598813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514350" algn="just">
              <a:lnSpc>
                <a:spcPct val="90000"/>
              </a:lnSpc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template for making the PPT without changing the idea details pointers (mentioned in previous slides).</a:t>
            </a:r>
            <a:endParaRPr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6230" algn="just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</a:pPr>
            <a:endParaRPr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4352" y="107067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3325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1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1100</Words>
  <Application>Microsoft Office PowerPoint</Application>
  <PresentationFormat>Custom</PresentationFormat>
  <Paragraphs>267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Pushkar Sehrawat</cp:lastModifiedBy>
  <cp:revision>19</cp:revision>
  <dcterms:created xsi:type="dcterms:W3CDTF">2026-09-28T17:06:32Z</dcterms:created>
  <dcterms:modified xsi:type="dcterms:W3CDTF">2026-09-29T11:34:23Z</dcterms:modified>
</cp:coreProperties>
</file>