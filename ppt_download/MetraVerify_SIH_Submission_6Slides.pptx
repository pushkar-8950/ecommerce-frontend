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60" r:id="rId3"/>
    <p:sldId id="256" r:id="rId4"/>
    <p:sldId id="258" r:id="rId5"/>
    <p:sldId id="259" r:id="rId6"/>
    <p:sldId id="296" r:id="rId7"/>
  </p:sldIdLst>
  <p:sldSz cx="12653963" cy="6858000"/>
  <p:notesSz cx="6858000" cy="126539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0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78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07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01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66700" y="685800"/>
            <a:ext cx="63246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2975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9047" y="2130429"/>
            <a:ext cx="10755869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8095" y="3886200"/>
            <a:ext cx="885777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5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416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Relationship Id="rId10" Type="http://schemas.openxmlformats.org/officeDocument/2006/relationships/image" Target="../media/image24.jpg"/><Relationship Id="rId11" Type="http://schemas.openxmlformats.org/officeDocument/2006/relationships/image" Target="../media/image25.jpg"/><Relationship Id="rId12" Type="http://schemas.openxmlformats.org/officeDocument/2006/relationships/image" Target="../media/image26.jp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Relationship Id="rId22" Type="http://schemas.openxmlformats.org/officeDocument/2006/relationships/image" Target="../media/image36.png"/><Relationship Id="rId2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Relationship Id="rId15" Type="http://schemas.openxmlformats.org/officeDocument/2006/relationships/image" Target="../media/image49.png"/><Relationship Id="rId16" Type="http://schemas.openxmlformats.org/officeDocument/2006/relationships/image" Target="../media/image50.png"/><Relationship Id="rId17" Type="http://schemas.openxmlformats.org/officeDocument/2006/relationships/image" Target="../media/image51.png"/><Relationship Id="rId18" Type="http://schemas.openxmlformats.org/officeDocument/2006/relationships/image" Target="../media/image52.png"/><Relationship Id="rId19" Type="http://schemas.openxmlformats.org/officeDocument/2006/relationships/image" Target="../media/image53.png"/><Relationship Id="rId20" Type="http://schemas.openxmlformats.org/officeDocument/2006/relationships/image" Target="../media/image54.png"/><Relationship Id="rId21" Type="http://schemas.openxmlformats.org/officeDocument/2006/relationships/image" Target="../media/image55.png"/><Relationship Id="rId22" Type="http://schemas.openxmlformats.org/officeDocument/2006/relationships/image" Target="../media/image56.png"/><Relationship Id="rId23" Type="http://schemas.openxmlformats.org/officeDocument/2006/relationships/image" Target="../media/image57.png"/><Relationship Id="rId24" Type="http://schemas.openxmlformats.org/officeDocument/2006/relationships/image" Target="../media/image58.png"/><Relationship Id="rId25" Type="http://schemas.openxmlformats.org/officeDocument/2006/relationships/image" Target="../media/image59.png"/><Relationship Id="rId26" Type="http://schemas.openxmlformats.org/officeDocument/2006/relationships/image" Target="../media/image60.png"/><Relationship Id="rId27" Type="http://schemas.openxmlformats.org/officeDocument/2006/relationships/image" Target="../media/image61.png"/><Relationship Id="rId28" Type="http://schemas.openxmlformats.org/officeDocument/2006/relationships/image" Target="../media/image62.png"/><Relationship Id="rId29" Type="http://schemas.openxmlformats.org/officeDocument/2006/relationships/image" Target="../media/image63.png"/><Relationship Id="rId30" Type="http://schemas.openxmlformats.org/officeDocument/2006/relationships/image" Target="../media/image64.png"/><Relationship Id="rId31" Type="http://schemas.openxmlformats.org/officeDocument/2006/relationships/image" Target="../media/image65.png"/><Relationship Id="rId32" Type="http://schemas.openxmlformats.org/officeDocument/2006/relationships/image" Target="../media/image66.png"/><Relationship Id="rId33" Type="http://schemas.openxmlformats.org/officeDocument/2006/relationships/image" Target="../media/image67.png"/><Relationship Id="rId3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4981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7762" y="851522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85873" y="1715882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76667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267" y="440932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267" y="2076451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Problem Statement ID –</a:t>
            </a:r>
            <a:r>
              <a:rPr b="1" sz="1500">
                <a:solidFill>
                  <a:srgbClr val="1E3A8A"/>
                </a:solidFill>
              </a:rPr>
              <a:t> SIH 2026 (PS-1736)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Problem Statement Title –</a:t>
            </a:r>
            <a:r>
              <a:rPr b="0" sz="1500">
                <a:solidFill>
                  <a:srgbClr val="1E3A8A"/>
                </a:solidFill>
              </a:rPr>
              <a:t> MetraVerify: Digital Verification &amp; Certification System for Weighing and Measuring Instruments (Legal Metrology)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Theme –</a:t>
            </a:r>
            <a:r>
              <a:rPr b="0" sz="1500">
                <a:solidFill>
                  <a:srgbClr val="1E3A8A"/>
                </a:solidFill>
              </a:rPr>
              <a:t> Smart Automation / Public Governance &amp; Legal Metrology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PS Category –</a:t>
            </a:r>
            <a:r>
              <a:rPr b="0" sz="1500">
                <a:solidFill>
                  <a:srgbClr val="1E3A8A"/>
                </a:solidFill>
              </a:rPr>
              <a:t> Software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Team ID –</a:t>
            </a:r>
            <a:r>
              <a:rPr b="0" sz="1500">
                <a:solidFill>
                  <a:srgbClr val="1E3A8A"/>
                </a:solidFill>
              </a:rPr>
              <a:t> SIH2026-CHEETAH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D97706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Team Name –</a:t>
            </a:r>
            <a:r>
              <a:rPr b="1" sz="1500">
                <a:solidFill>
                  <a:srgbClr val="D97706"/>
                </a:solidFill>
              </a:rPr>
              <a:t> CHEETAH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067" y="1501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3835584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92102" y="1376301"/>
            <a:ext cx="5271705" cy="4688552"/>
          </a:xfrm>
          <a:prstGeom prst="rect">
            <a:avLst/>
          </a:prstGeom>
          <a:solidFill>
            <a:srgbClr val="FFFFFF"/>
          </a:solidFill>
          <a:ln w="15875">
            <a:solidFill>
              <a:srgbClr val="5578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73742" y="1364639"/>
            <a:ext cx="5271705" cy="2437581"/>
          </a:xfrm>
          <a:prstGeom prst="rect">
            <a:avLst/>
          </a:prstGeom>
          <a:solidFill>
            <a:srgbClr val="FFFFFF"/>
          </a:solidFill>
          <a:ln w="15875">
            <a:solidFill>
              <a:srgbClr val="5578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73741" y="3988827"/>
            <a:ext cx="5283368" cy="2099352"/>
          </a:xfrm>
          <a:prstGeom prst="rect">
            <a:avLst/>
          </a:prstGeom>
          <a:solidFill>
            <a:srgbClr val="FFFFFF"/>
          </a:solidFill>
          <a:ln w="15875">
            <a:solidFill>
              <a:srgbClr val="5578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24369" y="6330096"/>
            <a:ext cx="12678332" cy="536501"/>
          </a:xfrm>
          <a:prstGeom prst="rect">
            <a:avLst/>
          </a:prstGeom>
          <a:solidFill>
            <a:srgbClr val="016CBA"/>
          </a:solidFill>
          <a:ln w="12700">
            <a:solidFill>
              <a:srgbClr val="016CBA">
                <a:alpha val="0"/>
              </a:srgbClr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2128386" y="195169"/>
            <a:ext cx="7452698" cy="6462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53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EVERY TRANSACTION RESTS ON A SCALE</a:t>
            </a:r>
          </a:p>
        </p:txBody>
      </p:sp>
      <p:sp>
        <p:nvSpPr>
          <p:cNvPr id="14" name="Text 7"/>
          <p:cNvSpPr txBox="1"/>
          <p:nvPr/>
        </p:nvSpPr>
        <p:spPr>
          <a:xfrm>
            <a:off x="1871799" y="731102"/>
            <a:ext cx="7965873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Verification exists in law, but trust is still kept in files, registers and memory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950417" y="1433029"/>
            <a:ext cx="539675" cy="318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 lang="en-US" sz="2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985407" y="1425613"/>
            <a:ext cx="1309437" cy="446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5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gap today</a:t>
            </a:r>
          </a:p>
        </p:txBody>
      </p:sp>
      <p:sp>
        <p:nvSpPr>
          <p:cNvPr id="17" name="Text 10"/>
          <p:cNvSpPr txBox="1"/>
          <p:nvPr/>
        </p:nvSpPr>
        <p:spPr>
          <a:xfrm>
            <a:off x="1008516" y="1935625"/>
            <a:ext cx="3618940" cy="363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Problem: </a:t>
            </a:r>
            <a:r>
              <a:rPr lang="en-US" sz="20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Legal Metrology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985407" y="2459379"/>
            <a:ext cx="388055" cy="376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 txBox="1"/>
          <p:nvPr/>
        </p:nvSpPr>
        <p:spPr>
          <a:xfrm>
            <a:off x="1300308" y="2459379"/>
            <a:ext cx="4738378" cy="7262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96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Applications and records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 paper or 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96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isolated local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 txBox="1"/>
          <p:nvPr/>
        </p:nvSpPr>
        <p:spPr>
          <a:xfrm>
            <a:off x="985407" y="3229142"/>
            <a:ext cx="411381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1323634" y="3229142"/>
            <a:ext cx="4038594" cy="6796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96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single view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of what is verified,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96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pending or overdue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996854" y="3972415"/>
            <a:ext cx="5589782" cy="434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7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  </a:t>
            </a:r>
            <a:r>
              <a:rPr lang="en-US" sz="207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Expiry </a:t>
            </a:r>
            <a:r>
              <a:rPr lang="en-US" sz="207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tracked by memory, so lapses go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335298" y="4290481"/>
            <a:ext cx="1428222" cy="361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unnoticed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985406" y="4687024"/>
            <a:ext cx="399718" cy="3997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9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1311971" y="4695525"/>
            <a:ext cx="4038594" cy="6912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755"/>
              </a:lnSpc>
            </a:pPr>
            <a:r>
              <a:rPr lang="en-US" sz="199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Consumers </a:t>
            </a:r>
            <a:r>
              <a:rPr lang="en-US" sz="19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cannot check a stamp</a:t>
            </a:r>
            <a:endParaRPr lang="en-US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755"/>
              </a:lnSpc>
            </a:pPr>
            <a:r>
              <a:rPr lang="en-US" sz="199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themselves</a:t>
            </a:r>
            <a:endParaRPr lang="en-US" sz="19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6508938" y="1496485"/>
            <a:ext cx="1589350" cy="29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5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it hurts</a:t>
            </a:r>
          </a:p>
        </p:txBody>
      </p:sp>
      <p:sp>
        <p:nvSpPr>
          <p:cNvPr id="27" name="Text 20"/>
          <p:cNvSpPr txBox="1"/>
          <p:nvPr/>
        </p:nvSpPr>
        <p:spPr>
          <a:xfrm>
            <a:off x="6408731" y="1817910"/>
            <a:ext cx="4808356" cy="423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50" dirty="0">
                <a:solidFill>
                  <a:srgbClr val="01000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Consumers: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short weight, wrong quantity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6402777" y="2299271"/>
            <a:ext cx="411381" cy="3769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endParaRPr lang="en-US" sz="1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6583921" y="2280740"/>
            <a:ext cx="3921963" cy="6446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96"/>
              </a:lnSpc>
            </a:pPr>
            <a:r>
              <a:rPr lang="en-US" sz="182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Honest traders: </a:t>
            </a:r>
            <a:r>
              <a:rPr lang="en-US" sz="18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penalised for missed</a:t>
            </a:r>
            <a:endParaRPr lang="en-US" sz="1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96"/>
              </a:lnSpc>
            </a:pPr>
            <a:r>
              <a:rPr lang="en-US" sz="18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renewals</a:t>
            </a:r>
            <a:endParaRPr lang="en-US" sz="1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6420394" y="2949228"/>
            <a:ext cx="4691726" cy="3997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Officers: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paperwork instead of inspection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6420394" y="3380761"/>
            <a:ext cx="5239890" cy="318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8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Government: </a:t>
            </a: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real-time enforcement picture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/>
          <p:cNvSpPr txBox="1"/>
          <p:nvPr/>
        </p:nvSpPr>
        <p:spPr>
          <a:xfrm>
            <a:off x="6432058" y="4057219"/>
            <a:ext cx="1286111" cy="29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5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vision</a:t>
            </a:r>
          </a:p>
        </p:txBody>
      </p:sp>
      <p:sp>
        <p:nvSpPr>
          <p:cNvPr id="33" name="Text 26"/>
          <p:cNvSpPr txBox="1"/>
          <p:nvPr/>
        </p:nvSpPr>
        <p:spPr>
          <a:xfrm>
            <a:off x="6432057" y="4348796"/>
            <a:ext cx="5158248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One national digital trust layer for Legal Metrology enforcement.</a:t>
            </a:r>
          </a:p>
        </p:txBody>
      </p:sp>
      <p:sp>
        <p:nvSpPr>
          <p:cNvPr id="34" name="Text 27"/>
          <p:cNvSpPr txBox="1"/>
          <p:nvPr/>
        </p:nvSpPr>
        <p:spPr>
          <a:xfrm>
            <a:off x="6432057" y="4652035"/>
            <a:ext cx="5111596" cy="294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Central Authority Triage: Admin dispatches to local inspectors.</a:t>
            </a:r>
          </a:p>
        </p:txBody>
      </p:sp>
      <p:sp>
        <p:nvSpPr>
          <p:cNvPr id="35" name="Text 28"/>
          <p:cNvSpPr txBox="1"/>
          <p:nvPr/>
        </p:nvSpPr>
        <p:spPr>
          <a:xfrm>
            <a:off x="6758623" y="4920285"/>
            <a:ext cx="726284" cy="2714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Automated local inspector matching by applicant district &amp; pincode.</a:t>
            </a:r>
          </a:p>
        </p:txBody>
      </p:sp>
      <p:sp>
        <p:nvSpPr>
          <p:cNvPr id="36" name="Text 29"/>
          <p:cNvSpPr txBox="1"/>
          <p:nvPr/>
        </p:nvSpPr>
        <p:spPr>
          <a:xfrm>
            <a:off x="6432058" y="5188536"/>
            <a:ext cx="4423475" cy="318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Fair markets, honest business, empowered 1.4B consumers.</a:t>
            </a:r>
          </a:p>
        </p:txBody>
      </p:sp>
      <p:sp>
        <p:nvSpPr>
          <p:cNvPr id="37" name="Text 30"/>
          <p:cNvSpPr txBox="1"/>
          <p:nvPr/>
        </p:nvSpPr>
        <p:spPr>
          <a:xfrm>
            <a:off x="6758623" y="5515103"/>
            <a:ext cx="1099502" cy="2131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\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1"/>
          <p:cNvSpPr txBox="1"/>
          <p:nvPr/>
        </p:nvSpPr>
        <p:spPr>
          <a:xfrm>
            <a:off x="6432058" y="5554337"/>
            <a:ext cx="4820019" cy="329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sz="1100"/>
            </a:pPr>
            <a:r>
              <a:t>• From manual paper stamps to real-time tamper-evident QR verification.</a:t>
            </a:r>
          </a:p>
        </p:txBody>
      </p:sp>
      <p:sp>
        <p:nvSpPr>
          <p:cNvPr id="39" name="Text 32"/>
          <p:cNvSpPr txBox="1"/>
          <p:nvPr/>
        </p:nvSpPr>
        <p:spPr>
          <a:xfrm>
            <a:off x="5492030" y="6385802"/>
            <a:ext cx="1621166" cy="22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0" name="Text 33"/>
          <p:cNvSpPr txBox="1"/>
          <p:nvPr/>
        </p:nvSpPr>
        <p:spPr>
          <a:xfrm>
            <a:off x="11447175" y="6343179"/>
            <a:ext cx="128294" cy="2014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/>
            <a:endParaRPr lang="en-US" sz="11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987EBE5-B928-10B3-AD70-3F44DC922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200" y="84532"/>
            <a:ext cx="2249850" cy="1062337"/>
          </a:xfrm>
          <a:prstGeom prst="rect">
            <a:avLst/>
          </a:prstGeom>
        </p:spPr>
      </p:pic>
      <p:sp>
        <p:nvSpPr>
          <p:cNvPr id="42" name="Text 74">
            <a:extLst>
              <a:ext uri="{FF2B5EF4-FFF2-40B4-BE49-F238E27FC236}">
                <a16:creationId xmlns:a16="http://schemas.microsoft.com/office/drawing/2014/main" id="{C70E29FD-0688-5123-71DF-2580BF2D9F5F}"/>
              </a:ext>
            </a:extLst>
          </p:cNvPr>
          <p:cNvSpPr txBox="1"/>
          <p:nvPr/>
        </p:nvSpPr>
        <p:spPr>
          <a:xfrm>
            <a:off x="5492030" y="6560828"/>
            <a:ext cx="2162432" cy="221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4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3" name="Rounded Rectangle 42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14775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8355" y="914400"/>
            <a:ext cx="5449330" cy="2829697"/>
          </a:xfrm>
          <a:prstGeom prst="rect">
            <a:avLst/>
          </a:prstGeom>
          <a:solidFill>
            <a:srgbClr val="EDEDEA"/>
          </a:solidFill>
          <a:ln w="12700">
            <a:solidFill>
              <a:srgbClr val="EDEDE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3836" y="1315995"/>
            <a:ext cx="4683211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pic>
        <p:nvPicPr>
          <p:cNvPr id="5" name="Image 0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98" y="3707027"/>
            <a:ext cx="6783859" cy="2767914"/>
          </a:xfrm>
          <a:prstGeom prst="rect">
            <a:avLst/>
          </a:prstGeom>
        </p:spPr>
      </p:pic>
      <p:pic>
        <p:nvPicPr>
          <p:cNvPr id="6" name="Image 1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469" y="1618735"/>
            <a:ext cx="3447535" cy="963827"/>
          </a:xfrm>
          <a:prstGeom prst="rect">
            <a:avLst/>
          </a:prstGeom>
        </p:spPr>
      </p:pic>
      <p:pic>
        <p:nvPicPr>
          <p:cNvPr id="7" name="Image 2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215" y="1618735"/>
            <a:ext cx="3323968" cy="951470"/>
          </a:xfrm>
          <a:prstGeom prst="rect">
            <a:avLst/>
          </a:prstGeom>
        </p:spPr>
      </p:pic>
      <p:pic>
        <p:nvPicPr>
          <p:cNvPr id="8" name="Image 3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9469" y="2730843"/>
            <a:ext cx="3435178" cy="1136822"/>
          </a:xfrm>
          <a:prstGeom prst="rect">
            <a:avLst/>
          </a:prstGeom>
        </p:spPr>
      </p:pic>
      <p:pic>
        <p:nvPicPr>
          <p:cNvPr id="9" name="Image 4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2355" y="2730843"/>
            <a:ext cx="3249827" cy="1136822"/>
          </a:xfrm>
          <a:prstGeom prst="rect">
            <a:avLst/>
          </a:prstGeom>
        </p:spPr>
      </p:pic>
      <p:pic>
        <p:nvPicPr>
          <p:cNvPr id="10" name="Image 5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9469" y="3954162"/>
            <a:ext cx="3435178" cy="1136822"/>
          </a:xfrm>
          <a:prstGeom prst="rect">
            <a:avLst/>
          </a:prstGeom>
        </p:spPr>
      </p:pic>
      <p:pic>
        <p:nvPicPr>
          <p:cNvPr id="11" name="Image 6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642" y="3954162"/>
            <a:ext cx="3274541" cy="1136822"/>
          </a:xfrm>
          <a:prstGeom prst="rect">
            <a:avLst/>
          </a:prstGeom>
        </p:spPr>
      </p:pic>
      <p:pic>
        <p:nvPicPr>
          <p:cNvPr id="12" name="Image 7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1642" y="5239265"/>
            <a:ext cx="2125362" cy="1248032"/>
          </a:xfrm>
          <a:prstGeom prst="rect">
            <a:avLst/>
          </a:prstGeom>
        </p:spPr>
      </p:pic>
      <p:pic>
        <p:nvPicPr>
          <p:cNvPr id="13" name="Image 8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7642" y="5239265"/>
            <a:ext cx="3274541" cy="1248032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74" y="6487297"/>
            <a:ext cx="12653319" cy="370703"/>
          </a:xfrm>
          <a:prstGeom prst="rect">
            <a:avLst/>
          </a:prstGeom>
          <a:solidFill>
            <a:srgbClr val="016CB5"/>
          </a:solidFill>
          <a:ln w="12700">
            <a:solidFill>
              <a:srgbClr val="016CB5">
                <a:alpha val="0"/>
              </a:srgbClr>
            </a:solidFill>
            <a:prstDash val="solid"/>
          </a:ln>
        </p:spPr>
      </p:sp>
      <p:pic>
        <p:nvPicPr>
          <p:cNvPr id="15" name="Image 9" descr="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0507" y="1989438"/>
            <a:ext cx="321276" cy="210065"/>
          </a:xfrm>
          <a:prstGeom prst="rect">
            <a:avLst/>
          </a:prstGeom>
        </p:spPr>
      </p:pic>
      <p:pic>
        <p:nvPicPr>
          <p:cNvPr id="16" name="Image 10" descr="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0507" y="4460789"/>
            <a:ext cx="321276" cy="197708"/>
          </a:xfrm>
          <a:prstGeom prst="rect">
            <a:avLst/>
          </a:prstGeom>
        </p:spPr>
      </p:pic>
      <p:pic>
        <p:nvPicPr>
          <p:cNvPr id="17" name="Image 11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78204" y="3793524"/>
            <a:ext cx="210065" cy="247135"/>
          </a:xfrm>
          <a:prstGeom prst="rect">
            <a:avLst/>
          </a:prstGeom>
        </p:spPr>
      </p:pic>
      <p:sp>
        <p:nvSpPr>
          <p:cNvPr id="18" name="image2ppt-measured-path-1"/>
          <p:cNvSpPr/>
          <p:nvPr/>
        </p:nvSpPr>
        <p:spPr>
          <a:xfrm>
            <a:off x="9045220" y="5773077"/>
            <a:ext cx="265668" cy="166816"/>
          </a:xfrm>
          <a:custGeom>
            <a:avLst/>
            <a:gdLst/>
            <a:ahLst/>
            <a:cxnLst/>
            <a:rect l="l" t="t" r="r" b="b"/>
            <a:pathLst>
              <a:path w="265668" h="166816" fill="none">
                <a:moveTo>
                  <a:pt x="117389" y="80460"/>
                </a:moveTo>
                <a:lnTo>
                  <a:pt x="265668" y="80460"/>
                </a:lnTo>
              </a:path>
              <a:path w="265668" h="166816" stroke="0">
                <a:moveTo>
                  <a:pt x="0" y="74141"/>
                </a:moveTo>
                <a:lnTo>
                  <a:pt x="117389" y="0"/>
                </a:lnTo>
                <a:lnTo>
                  <a:pt x="117389" y="166816"/>
                </a:lnTo>
                <a:close/>
              </a:path>
            </a:pathLst>
          </a:custGeom>
          <a:solidFill>
            <a:srgbClr val="010101"/>
          </a:solidFill>
          <a:ln w="24714">
            <a:solidFill>
              <a:srgbClr val="010101"/>
            </a:solidFill>
            <a:prstDash val="solid"/>
          </a:ln>
        </p:spPr>
      </p:sp>
      <p:sp>
        <p:nvSpPr>
          <p:cNvPr id="19" name="image2ppt-measured-path-2"/>
          <p:cNvSpPr/>
          <p:nvPr/>
        </p:nvSpPr>
        <p:spPr>
          <a:xfrm>
            <a:off x="9045220" y="3225114"/>
            <a:ext cx="265622" cy="154459"/>
          </a:xfrm>
          <a:custGeom>
            <a:avLst/>
            <a:gdLst/>
            <a:ahLst/>
            <a:cxnLst/>
            <a:rect l="l" t="t" r="r" b="b"/>
            <a:pathLst>
              <a:path w="265622" h="154459" fill="none">
                <a:moveTo>
                  <a:pt x="265622" y="76897"/>
                </a:moveTo>
                <a:lnTo>
                  <a:pt x="117389" y="76897"/>
                </a:lnTo>
              </a:path>
              <a:path w="265622" h="154459" stroke="0">
                <a:moveTo>
                  <a:pt x="0" y="74141"/>
                </a:moveTo>
                <a:lnTo>
                  <a:pt x="117389" y="0"/>
                </a:lnTo>
                <a:lnTo>
                  <a:pt x="117389" y="154459"/>
                </a:lnTo>
                <a:close/>
              </a:path>
            </a:pathLst>
          </a:custGeom>
          <a:solidFill>
            <a:srgbClr val="000000"/>
          </a:solidFill>
          <a:ln w="12357">
            <a:solidFill>
              <a:srgbClr val="000000"/>
            </a:solidFill>
            <a:prstDash val="solid"/>
          </a:ln>
        </p:spPr>
      </p:sp>
      <p:sp>
        <p:nvSpPr>
          <p:cNvPr id="20" name="image2ppt-measured-path-3"/>
          <p:cNvSpPr/>
          <p:nvPr/>
        </p:nvSpPr>
        <p:spPr>
          <a:xfrm>
            <a:off x="7289732" y="2533156"/>
            <a:ext cx="172714" cy="221904"/>
          </a:xfrm>
          <a:custGeom>
            <a:avLst/>
            <a:gdLst/>
            <a:ahLst/>
            <a:cxnLst/>
            <a:rect l="l" t="t" r="r" b="b"/>
            <a:pathLst>
              <a:path w="172714" h="221904" fill="none">
                <a:moveTo>
                  <a:pt x="87408" y="0"/>
                </a:moveTo>
                <a:lnTo>
                  <a:pt x="87408" y="117393"/>
                </a:lnTo>
              </a:path>
              <a:path w="172714" h="221904" stroke="0">
                <a:moveTo>
                  <a:pt x="98501" y="221904"/>
                </a:moveTo>
                <a:lnTo>
                  <a:pt x="0" y="122314"/>
                </a:lnTo>
                <a:lnTo>
                  <a:pt x="172714" y="112472"/>
                </a:lnTo>
                <a:close/>
              </a:path>
            </a:pathLst>
          </a:custGeom>
          <a:solidFill>
            <a:srgbClr val="020100"/>
          </a:solidFill>
          <a:ln w="37070">
            <a:solidFill>
              <a:srgbClr val="020100"/>
            </a:solidFill>
            <a:prstDash val="solid"/>
          </a:ln>
        </p:spPr>
      </p:sp>
      <p:sp>
        <p:nvSpPr>
          <p:cNvPr id="21" name="image2ppt-measured-path-4"/>
          <p:cNvSpPr/>
          <p:nvPr/>
        </p:nvSpPr>
        <p:spPr>
          <a:xfrm>
            <a:off x="10849307" y="2533181"/>
            <a:ext cx="154459" cy="216198"/>
          </a:xfrm>
          <a:custGeom>
            <a:avLst/>
            <a:gdLst/>
            <a:ahLst/>
            <a:cxnLst/>
            <a:rect l="l" t="t" r="r" b="b"/>
            <a:pathLst>
              <a:path w="154459" h="216198" fill="none">
                <a:moveTo>
                  <a:pt x="80519" y="0"/>
                </a:moveTo>
                <a:lnTo>
                  <a:pt x="80519" y="117344"/>
                </a:lnTo>
              </a:path>
              <a:path w="154459" h="216198" stroke="0">
                <a:moveTo>
                  <a:pt x="86497" y="216198"/>
                </a:moveTo>
                <a:lnTo>
                  <a:pt x="0" y="117344"/>
                </a:lnTo>
                <a:lnTo>
                  <a:pt x="154459" y="117344"/>
                </a:lnTo>
                <a:close/>
              </a:path>
            </a:pathLst>
          </a:custGeom>
          <a:solidFill>
            <a:srgbClr val="040404"/>
          </a:solidFill>
          <a:ln w="24714">
            <a:solidFill>
              <a:srgbClr val="040404"/>
            </a:solidFill>
            <a:prstDash val="solid"/>
          </a:ln>
        </p:spPr>
      </p:sp>
      <p:sp>
        <p:nvSpPr>
          <p:cNvPr id="22" name="image2ppt-measured-path-5"/>
          <p:cNvSpPr/>
          <p:nvPr/>
        </p:nvSpPr>
        <p:spPr>
          <a:xfrm>
            <a:off x="10849307" y="3805868"/>
            <a:ext cx="154459" cy="216257"/>
          </a:xfrm>
          <a:custGeom>
            <a:avLst/>
            <a:gdLst/>
            <a:ahLst/>
            <a:cxnLst/>
            <a:rect l="l" t="t" r="r" b="b"/>
            <a:pathLst>
              <a:path w="154459" h="216257" fill="none">
                <a:moveTo>
                  <a:pt x="80293" y="0"/>
                </a:moveTo>
                <a:lnTo>
                  <a:pt x="80293" y="117403"/>
                </a:lnTo>
              </a:path>
              <a:path w="154459" h="216257" stroke="0">
                <a:moveTo>
                  <a:pt x="86497" y="216257"/>
                </a:moveTo>
                <a:lnTo>
                  <a:pt x="0" y="117403"/>
                </a:lnTo>
                <a:lnTo>
                  <a:pt x="154459" y="117403"/>
                </a:lnTo>
                <a:close/>
              </a:path>
            </a:pathLst>
          </a:custGeom>
          <a:solidFill>
            <a:srgbClr val="020102"/>
          </a:solidFill>
          <a:ln w="24714">
            <a:solidFill>
              <a:srgbClr val="020102"/>
            </a:solidFill>
            <a:prstDash val="solid"/>
          </a:ln>
        </p:spPr>
      </p:sp>
      <p:sp>
        <p:nvSpPr>
          <p:cNvPr id="23" name="image2ppt-measured-path-6"/>
          <p:cNvSpPr/>
          <p:nvPr/>
        </p:nvSpPr>
        <p:spPr>
          <a:xfrm>
            <a:off x="10849307" y="5053873"/>
            <a:ext cx="154459" cy="216283"/>
          </a:xfrm>
          <a:custGeom>
            <a:avLst/>
            <a:gdLst/>
            <a:ahLst/>
            <a:cxnLst/>
            <a:rect l="l" t="t" r="r" b="b"/>
            <a:pathLst>
              <a:path w="154459" h="216283" fill="none">
                <a:moveTo>
                  <a:pt x="80085" y="0"/>
                </a:moveTo>
                <a:lnTo>
                  <a:pt x="80085" y="117429"/>
                </a:lnTo>
              </a:path>
              <a:path w="154459" h="216283" stroke="0">
                <a:moveTo>
                  <a:pt x="86497" y="216283"/>
                </a:moveTo>
                <a:lnTo>
                  <a:pt x="0" y="117429"/>
                </a:lnTo>
                <a:lnTo>
                  <a:pt x="154459" y="117429"/>
                </a:lnTo>
                <a:close/>
              </a:path>
            </a:pathLst>
          </a:custGeom>
          <a:solidFill>
            <a:srgbClr val="040303"/>
          </a:solidFill>
          <a:ln w="24714">
            <a:solidFill>
              <a:srgbClr val="040303"/>
            </a:solidFill>
            <a:prstDash val="solid"/>
          </a:ln>
        </p:spPr>
      </p:sp>
      <p:pic>
        <p:nvPicPr>
          <p:cNvPr id="26" name="Image 14" descr="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9425" y="6005384"/>
            <a:ext cx="432486" cy="395416"/>
          </a:xfrm>
          <a:prstGeom prst="rect">
            <a:avLst/>
          </a:prstGeom>
        </p:spPr>
      </p:pic>
      <p:pic>
        <p:nvPicPr>
          <p:cNvPr id="28" name="Image 16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73371" y="5325762"/>
            <a:ext cx="271849" cy="296562"/>
          </a:xfrm>
          <a:prstGeom prst="rect">
            <a:avLst/>
          </a:prstGeom>
        </p:spPr>
      </p:pic>
      <p:sp>
        <p:nvSpPr>
          <p:cNvPr id="31" name="Text 10"/>
          <p:cNvSpPr txBox="1"/>
          <p:nvPr/>
        </p:nvSpPr>
        <p:spPr>
          <a:xfrm>
            <a:off x="2088366" y="259986"/>
            <a:ext cx="8501449" cy="419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APPROACH: SECURE &amp; SCALABLE</a:t>
            </a:r>
            <a:endParaRPr lang="en-US" sz="2530" dirty="0"/>
          </a:p>
        </p:txBody>
      </p:sp>
      <p:sp>
        <p:nvSpPr>
          <p:cNvPr id="32" name="Text 11"/>
          <p:cNvSpPr txBox="1"/>
          <p:nvPr/>
        </p:nvSpPr>
        <p:spPr>
          <a:xfrm>
            <a:off x="741480" y="1050819"/>
            <a:ext cx="4707924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PRINCIPLES &amp; COMPONENTS</a:t>
            </a:r>
            <a:endParaRPr lang="en-US" sz="1900" dirty="0"/>
          </a:p>
        </p:txBody>
      </p:sp>
      <p:sp>
        <p:nvSpPr>
          <p:cNvPr id="33" name="Text 12"/>
          <p:cNvSpPr txBox="1"/>
          <p:nvPr/>
        </p:nvSpPr>
        <p:spPr>
          <a:xfrm>
            <a:off x="420204" y="1483305"/>
            <a:ext cx="4706936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Central Authority triage &amp; inspection allocation.</a:t>
            </a:r>
          </a:p>
        </p:txBody>
      </p:sp>
      <p:sp>
        <p:nvSpPr>
          <p:cNvPr id="34" name="Text 13"/>
          <p:cNvSpPr txBox="1"/>
          <p:nvPr/>
        </p:nvSpPr>
        <p:spPr>
          <a:xfrm>
            <a:off x="222496" y="1767510"/>
            <a:ext cx="5411271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7-Point Statutory Digital Inspection Engine (visual, zero, corner, calib, seal, env).</a:t>
            </a:r>
          </a:p>
        </p:txBody>
      </p:sp>
      <p:sp>
        <p:nvSpPr>
          <p:cNvPr id="35" name="Text 14"/>
          <p:cNvSpPr txBox="1"/>
          <p:nvPr/>
        </p:nvSpPr>
        <p:spPr>
          <a:xfrm>
            <a:off x="222496" y="2039359"/>
            <a:ext cx="4571011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data synchronization to central server.</a:t>
            </a:r>
            <a:endParaRPr lang="en-US" sz="1560" dirty="0"/>
          </a:p>
        </p:txBody>
      </p:sp>
      <p:sp>
        <p:nvSpPr>
          <p:cNvPr id="36" name="Text 15"/>
          <p:cNvSpPr txBox="1"/>
          <p:nvPr/>
        </p:nvSpPr>
        <p:spPr>
          <a:xfrm>
            <a:off x="234853" y="2311208"/>
            <a:ext cx="4694579" cy="3450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Role-Based Access Control (RBAC) across 4 Portals: Business, Admin, LMO, GATC.</a:t>
            </a:r>
          </a:p>
        </p:txBody>
      </p:sp>
      <p:sp>
        <p:nvSpPr>
          <p:cNvPr id="37" name="Text 16"/>
          <p:cNvSpPr txBox="1"/>
          <p:nvPr/>
        </p:nvSpPr>
        <p:spPr>
          <a:xfrm>
            <a:off x="234853" y="2583056"/>
            <a:ext cx="4657509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Immutable Digital Audit Trails &amp; Timestamps for tamper-evident logging.</a:t>
            </a:r>
          </a:p>
        </p:txBody>
      </p:sp>
      <p:sp>
        <p:nvSpPr>
          <p:cNvPr id="38" name="Text 17"/>
          <p:cNvSpPr txBox="1"/>
          <p:nvPr/>
        </p:nvSpPr>
        <p:spPr>
          <a:xfrm>
            <a:off x="222496" y="2867262"/>
            <a:ext cx="4348590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Tamper-Evident QR Verification with clean URL payloads (zero PII leakage).</a:t>
            </a:r>
          </a:p>
        </p:txBody>
      </p:sp>
      <p:sp>
        <p:nvSpPr>
          <p:cNvPr id="39" name="Text 18"/>
          <p:cNvSpPr txBox="1"/>
          <p:nvPr/>
        </p:nvSpPr>
        <p:spPr>
          <a:xfrm>
            <a:off x="222496" y="3151467"/>
            <a:ext cx="4669866" cy="2955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public verification via secure QR codes.</a:t>
            </a:r>
            <a:endParaRPr lang="en-US" sz="1550" dirty="0"/>
          </a:p>
        </p:txBody>
      </p:sp>
      <p:sp>
        <p:nvSpPr>
          <p:cNvPr id="40" name="Text 19"/>
          <p:cNvSpPr txBox="1"/>
          <p:nvPr/>
        </p:nvSpPr>
        <p:spPr>
          <a:xfrm>
            <a:off x="432561" y="3423316"/>
            <a:ext cx="3644255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Live National Stamping &amp; Verification Throughput analytics.</a:t>
            </a:r>
          </a:p>
        </p:txBody>
      </p:sp>
      <p:sp>
        <p:nvSpPr>
          <p:cNvPr id="41" name="Text 20"/>
          <p:cNvSpPr txBox="1"/>
          <p:nvPr/>
        </p:nvSpPr>
        <p:spPr>
          <a:xfrm>
            <a:off x="2273717" y="3732235"/>
            <a:ext cx="1816443" cy="357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defRPr b="1" sz="1000"/>
            </a:pPr>
            <a:r>
              <a:t>Tech Stack: MERN Prototype (Live) + Scaled Architecture</a:t>
            </a:r>
          </a:p>
        </p:txBody>
      </p:sp>
      <p:sp>
        <p:nvSpPr>
          <p:cNvPr id="42" name="Text 21"/>
          <p:cNvSpPr txBox="1"/>
          <p:nvPr/>
        </p:nvSpPr>
        <p:spPr>
          <a:xfrm>
            <a:off x="346063" y="4696062"/>
            <a:ext cx="902043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303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170" dirty="0"/>
          </a:p>
        </p:txBody>
      </p:sp>
      <p:sp>
        <p:nvSpPr>
          <p:cNvPr id="43" name="Text 22"/>
          <p:cNvSpPr txBox="1"/>
          <p:nvPr/>
        </p:nvSpPr>
        <p:spPr>
          <a:xfrm>
            <a:off x="1396388" y="4696062"/>
            <a:ext cx="889686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(PWA)</a:t>
            </a:r>
            <a:endParaRPr lang="en-US" sz="1170" dirty="0"/>
          </a:p>
        </p:txBody>
      </p:sp>
      <p:sp>
        <p:nvSpPr>
          <p:cNvPr id="44" name="Text 23"/>
          <p:cNvSpPr txBox="1"/>
          <p:nvPr/>
        </p:nvSpPr>
        <p:spPr>
          <a:xfrm>
            <a:off x="2582636" y="4708419"/>
            <a:ext cx="494270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1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</a:t>
            </a:r>
            <a:endParaRPr lang="en-US" sz="1150" dirty="0"/>
          </a:p>
        </p:txBody>
      </p:sp>
      <p:sp>
        <p:nvSpPr>
          <p:cNvPr id="45" name="Text 24"/>
          <p:cNvSpPr txBox="1"/>
          <p:nvPr/>
        </p:nvSpPr>
        <p:spPr>
          <a:xfrm>
            <a:off x="3410539" y="4708419"/>
            <a:ext cx="840259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70" dirty="0"/>
          </a:p>
        </p:txBody>
      </p:sp>
      <p:sp>
        <p:nvSpPr>
          <p:cNvPr id="46" name="Text 25"/>
          <p:cNvSpPr txBox="1"/>
          <p:nvPr/>
        </p:nvSpPr>
        <p:spPr>
          <a:xfrm>
            <a:off x="469631" y="4918483"/>
            <a:ext cx="654908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525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1170" dirty="0"/>
          </a:p>
        </p:txBody>
      </p:sp>
      <p:sp>
        <p:nvSpPr>
          <p:cNvPr id="47" name="Text 26"/>
          <p:cNvSpPr txBox="1"/>
          <p:nvPr/>
        </p:nvSpPr>
        <p:spPr>
          <a:xfrm>
            <a:off x="531415" y="5449824"/>
            <a:ext cx="531341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1120" dirty="0"/>
          </a:p>
        </p:txBody>
      </p:sp>
      <p:sp>
        <p:nvSpPr>
          <p:cNvPr id="48" name="Text 27"/>
          <p:cNvSpPr txBox="1"/>
          <p:nvPr/>
        </p:nvSpPr>
        <p:spPr>
          <a:xfrm>
            <a:off x="1631166" y="5437467"/>
            <a:ext cx="407773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20" dirty="0"/>
          </a:p>
        </p:txBody>
      </p:sp>
      <p:sp>
        <p:nvSpPr>
          <p:cNvPr id="49" name="Text 28"/>
          <p:cNvSpPr txBox="1"/>
          <p:nvPr/>
        </p:nvSpPr>
        <p:spPr>
          <a:xfrm>
            <a:off x="2570280" y="5449824"/>
            <a:ext cx="543697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BullMQ</a:t>
            </a:r>
            <a:endParaRPr lang="en-US" sz="1170" dirty="0"/>
          </a:p>
        </p:txBody>
      </p:sp>
      <p:sp>
        <p:nvSpPr>
          <p:cNvPr id="50" name="Text 29"/>
          <p:cNvSpPr txBox="1"/>
          <p:nvPr/>
        </p:nvSpPr>
        <p:spPr>
          <a:xfrm>
            <a:off x="3361112" y="5449824"/>
            <a:ext cx="766119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storage</a:t>
            </a:r>
            <a:endParaRPr lang="en-US" sz="1170" dirty="0"/>
          </a:p>
        </p:txBody>
      </p:sp>
      <p:sp>
        <p:nvSpPr>
          <p:cNvPr id="51" name="Text 30"/>
          <p:cNvSpPr txBox="1"/>
          <p:nvPr/>
        </p:nvSpPr>
        <p:spPr>
          <a:xfrm>
            <a:off x="4609144" y="4708419"/>
            <a:ext cx="704335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KMS/HSM</a:t>
            </a:r>
            <a:endParaRPr lang="en-US" sz="1130" dirty="0"/>
          </a:p>
        </p:txBody>
      </p:sp>
      <p:sp>
        <p:nvSpPr>
          <p:cNvPr id="52" name="Text 31"/>
          <p:cNvSpPr txBox="1"/>
          <p:nvPr/>
        </p:nvSpPr>
        <p:spPr>
          <a:xfrm>
            <a:off x="6969285" y="1050819"/>
            <a:ext cx="4868562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VERIFICATION WORKFLOW</a:t>
            </a:r>
            <a:endParaRPr lang="en-US" sz="2180" dirty="0"/>
          </a:p>
        </p:txBody>
      </p:sp>
      <p:sp>
        <p:nvSpPr>
          <p:cNvPr id="53" name="Text 32"/>
          <p:cNvSpPr txBox="1"/>
          <p:nvPr/>
        </p:nvSpPr>
        <p:spPr>
          <a:xfrm>
            <a:off x="8316171" y="1372094"/>
            <a:ext cx="2088292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CHECK SYSTEM</a:t>
            </a:r>
            <a:endParaRPr lang="en-US" sz="1370" dirty="0"/>
          </a:p>
        </p:txBody>
      </p:sp>
      <p:sp>
        <p:nvSpPr>
          <p:cNvPr id="54" name="Text 33"/>
          <p:cNvSpPr txBox="1"/>
          <p:nvPr/>
        </p:nvSpPr>
        <p:spPr>
          <a:xfrm>
            <a:off x="5906604" y="1681013"/>
            <a:ext cx="3002692" cy="307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 &amp; SCHEDULING</a:t>
            </a:r>
            <a:endParaRPr lang="en-US" sz="1470" dirty="0"/>
          </a:p>
        </p:txBody>
      </p:sp>
      <p:sp>
        <p:nvSpPr>
          <p:cNvPr id="55" name="Text 34"/>
          <p:cNvSpPr txBox="1"/>
          <p:nvPr/>
        </p:nvSpPr>
        <p:spPr>
          <a:xfrm>
            <a:off x="6277307" y="1977575"/>
            <a:ext cx="2371509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assigns inspector tasks.</a:t>
            </a:r>
            <a:endParaRPr lang="en-US" sz="1180" dirty="0"/>
          </a:p>
        </p:txBody>
      </p:sp>
      <p:sp>
        <p:nvSpPr>
          <p:cNvPr id="56" name="Text 35"/>
          <p:cNvSpPr txBox="1"/>
          <p:nvPr/>
        </p:nvSpPr>
        <p:spPr>
          <a:xfrm>
            <a:off x="6289663" y="2175283"/>
            <a:ext cx="1914309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Defines sites &amp; scale IDs.</a:t>
            </a:r>
            <a:endParaRPr lang="en-US" sz="1170" dirty="0"/>
          </a:p>
        </p:txBody>
      </p:sp>
      <p:sp>
        <p:nvSpPr>
          <p:cNvPr id="57" name="Text 36"/>
          <p:cNvSpPr txBox="1"/>
          <p:nvPr/>
        </p:nvSpPr>
        <p:spPr>
          <a:xfrm>
            <a:off x="6153739" y="2780765"/>
            <a:ext cx="2817341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INSPECTOR WORKSTATION</a:t>
            </a:r>
          </a:p>
        </p:txBody>
      </p:sp>
      <p:sp>
        <p:nvSpPr>
          <p:cNvPr id="58" name="Text 37"/>
          <p:cNvSpPr txBox="1"/>
          <p:nvPr/>
        </p:nvSpPr>
        <p:spPr>
          <a:xfrm>
            <a:off x="6400874" y="3015543"/>
            <a:ext cx="2655714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Responsive portal (Web SPA)</a:t>
            </a:r>
          </a:p>
        </p:txBody>
      </p:sp>
      <p:sp>
        <p:nvSpPr>
          <p:cNvPr id="59" name="Text 38"/>
          <p:cNvSpPr txBox="1"/>
          <p:nvPr/>
        </p:nvSpPr>
        <p:spPr>
          <a:xfrm>
            <a:off x="6413231" y="3200894"/>
            <a:ext cx="1630103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Pincode/district matched cases</a:t>
            </a:r>
          </a:p>
        </p:txBody>
      </p:sp>
      <p:sp>
        <p:nvSpPr>
          <p:cNvPr id="60" name="Text 39"/>
          <p:cNvSpPr txBox="1"/>
          <p:nvPr/>
        </p:nvSpPr>
        <p:spPr>
          <a:xfrm>
            <a:off x="6425588" y="3386246"/>
            <a:ext cx="2643357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7-Point statutory verification</a:t>
            </a:r>
          </a:p>
        </p:txBody>
      </p:sp>
      <p:sp>
        <p:nvSpPr>
          <p:cNvPr id="61" name="Text 40"/>
          <p:cNvSpPr txBox="1"/>
          <p:nvPr/>
        </p:nvSpPr>
        <p:spPr>
          <a:xfrm>
            <a:off x="6400874" y="3559240"/>
            <a:ext cx="1815455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Today/Week/Month/Year KPIs</a:t>
            </a:r>
          </a:p>
        </p:txBody>
      </p:sp>
      <p:sp>
        <p:nvSpPr>
          <p:cNvPr id="62" name="Text 41"/>
          <p:cNvSpPr txBox="1"/>
          <p:nvPr/>
        </p:nvSpPr>
        <p:spPr>
          <a:xfrm>
            <a:off x="6586225" y="4078224"/>
            <a:ext cx="1705232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DATA SYNC</a:t>
            </a:r>
            <a:endParaRPr lang="en-US" sz="1470" dirty="0"/>
          </a:p>
        </p:txBody>
      </p:sp>
      <p:sp>
        <p:nvSpPr>
          <p:cNvPr id="63" name="Text 42"/>
          <p:cNvSpPr txBox="1"/>
          <p:nvPr/>
        </p:nvSpPr>
        <p:spPr>
          <a:xfrm>
            <a:off x="6586225" y="4350073"/>
            <a:ext cx="2037876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data stored locally.</a:t>
            </a:r>
            <a:endParaRPr lang="en-US" sz="1220" dirty="0"/>
          </a:p>
        </p:txBody>
      </p:sp>
      <p:sp>
        <p:nvSpPr>
          <p:cNvPr id="64" name="Text 43"/>
          <p:cNvSpPr txBox="1"/>
          <p:nvPr/>
        </p:nvSpPr>
        <p:spPr>
          <a:xfrm>
            <a:off x="6598582" y="4510710"/>
            <a:ext cx="2285011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80" dirty="0">
                <a:solidFill>
                  <a:srgbClr val="1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Syncs to server on connection.</a:t>
            </a:r>
            <a:endParaRPr lang="en-US" sz="1180" dirty="0"/>
          </a:p>
        </p:txBody>
      </p:sp>
      <p:sp>
        <p:nvSpPr>
          <p:cNvPr id="65" name="Text 44"/>
          <p:cNvSpPr txBox="1"/>
          <p:nvPr/>
        </p:nvSpPr>
        <p:spPr>
          <a:xfrm>
            <a:off x="6598582" y="4720775"/>
            <a:ext cx="1741314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Detects data conflicts.</a:t>
            </a:r>
            <a:endParaRPr lang="en-US" sz="1220" dirty="0"/>
          </a:p>
        </p:txBody>
      </p:sp>
      <p:sp>
        <p:nvSpPr>
          <p:cNvPr id="66" name="Text 45"/>
          <p:cNvSpPr txBox="1"/>
          <p:nvPr/>
        </p:nvSpPr>
        <p:spPr>
          <a:xfrm>
            <a:off x="9971977" y="1718083"/>
            <a:ext cx="1952368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SCALE DB</a:t>
            </a:r>
            <a:endParaRPr lang="en-US" sz="1470" dirty="0"/>
          </a:p>
        </p:txBody>
      </p:sp>
      <p:sp>
        <p:nvSpPr>
          <p:cNvPr id="67" name="Text 46"/>
          <p:cNvSpPr txBox="1"/>
          <p:nvPr/>
        </p:nvSpPr>
        <p:spPr>
          <a:xfrm>
            <a:off x="9897836" y="1989932"/>
            <a:ext cx="1790741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Master list of all scales.</a:t>
            </a:r>
            <a:endParaRPr lang="en-US" sz="1200" dirty="0"/>
          </a:p>
        </p:txBody>
      </p:sp>
      <p:sp>
        <p:nvSpPr>
          <p:cNvPr id="68" name="Text 47"/>
          <p:cNvSpPr txBox="1"/>
          <p:nvPr/>
        </p:nvSpPr>
        <p:spPr>
          <a:xfrm>
            <a:off x="9885480" y="2187640"/>
            <a:ext cx="1963736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2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Stores inspection history.</a:t>
            </a:r>
            <a:endParaRPr lang="en-US" sz="1230" dirty="0"/>
          </a:p>
        </p:txBody>
      </p:sp>
      <p:sp>
        <p:nvSpPr>
          <p:cNvPr id="69" name="Text 48"/>
          <p:cNvSpPr txBox="1"/>
          <p:nvPr/>
        </p:nvSpPr>
        <p:spPr>
          <a:xfrm>
            <a:off x="9663058" y="2842548"/>
            <a:ext cx="2496065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PLATFORM</a:t>
            </a:r>
            <a:endParaRPr lang="en-US" sz="1470" dirty="0"/>
          </a:p>
        </p:txBody>
      </p:sp>
      <p:sp>
        <p:nvSpPr>
          <p:cNvPr id="70" name="Text 49"/>
          <p:cNvSpPr txBox="1"/>
          <p:nvPr/>
        </p:nvSpPr>
        <p:spPr>
          <a:xfrm>
            <a:off x="9885480" y="3089683"/>
            <a:ext cx="1568320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Validates field data.</a:t>
            </a:r>
            <a:endParaRPr lang="en-US" sz="1230" dirty="0"/>
          </a:p>
        </p:txBody>
      </p:sp>
      <p:sp>
        <p:nvSpPr>
          <p:cNvPr id="71" name="Text 50"/>
          <p:cNvSpPr txBox="1"/>
          <p:nvPr/>
        </p:nvSpPr>
        <p:spPr>
          <a:xfrm>
            <a:off x="9873123" y="3275035"/>
            <a:ext cx="2569217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Immutable audit log entries</a:t>
            </a:r>
          </a:p>
        </p:txBody>
      </p:sp>
      <p:sp>
        <p:nvSpPr>
          <p:cNvPr id="72" name="Text 51"/>
          <p:cNvSpPr txBox="1"/>
          <p:nvPr/>
        </p:nvSpPr>
        <p:spPr>
          <a:xfrm>
            <a:off x="9873123" y="3472743"/>
            <a:ext cx="2359152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000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Matches inspection to Scale ID.</a:t>
            </a:r>
            <a:endParaRPr lang="en-US" sz="1190" dirty="0"/>
          </a:p>
        </p:txBody>
      </p:sp>
      <p:sp>
        <p:nvSpPr>
          <p:cNvPr id="73" name="Text 52"/>
          <p:cNvSpPr txBox="1"/>
          <p:nvPr/>
        </p:nvSpPr>
        <p:spPr>
          <a:xfrm>
            <a:off x="9761912" y="4090581"/>
            <a:ext cx="2298357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ENGINE</a:t>
            </a:r>
            <a:endParaRPr lang="en-US" sz="1470" dirty="0"/>
          </a:p>
        </p:txBody>
      </p:sp>
      <p:sp>
        <p:nvSpPr>
          <p:cNvPr id="74" name="Text 53"/>
          <p:cNvSpPr txBox="1"/>
          <p:nvPr/>
        </p:nvSpPr>
        <p:spPr>
          <a:xfrm>
            <a:off x="9885480" y="4350073"/>
            <a:ext cx="1864882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Generates PDF certificate</a:t>
            </a:r>
          </a:p>
        </p:txBody>
      </p:sp>
      <p:sp>
        <p:nvSpPr>
          <p:cNvPr id="75" name="Text 54"/>
          <p:cNvSpPr txBox="1"/>
          <p:nvPr/>
        </p:nvSpPr>
        <p:spPr>
          <a:xfrm>
            <a:off x="10009047" y="4523067"/>
            <a:ext cx="2556860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Embeds cryptographic QR</a:t>
            </a:r>
          </a:p>
        </p:txBody>
      </p:sp>
      <p:sp>
        <p:nvSpPr>
          <p:cNvPr id="76" name="Text 55"/>
          <p:cNvSpPr txBox="1"/>
          <p:nvPr/>
        </p:nvSpPr>
        <p:spPr>
          <a:xfrm>
            <a:off x="9885480" y="4720775"/>
            <a:ext cx="1420038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Digital stamp code assigned</a:t>
            </a:r>
          </a:p>
        </p:txBody>
      </p:sp>
      <p:sp>
        <p:nvSpPr>
          <p:cNvPr id="77" name="Text 56"/>
          <p:cNvSpPr txBox="1"/>
          <p:nvPr/>
        </p:nvSpPr>
        <p:spPr>
          <a:xfrm>
            <a:off x="4386723" y="5227402"/>
            <a:ext cx="2421924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VERIFICATION</a:t>
            </a:r>
            <a:endParaRPr lang="en-US" sz="1410" dirty="0"/>
          </a:p>
        </p:txBody>
      </p:sp>
      <p:sp>
        <p:nvSpPr>
          <p:cNvPr id="78" name="Text 57"/>
          <p:cNvSpPr txBox="1"/>
          <p:nvPr/>
        </p:nvSpPr>
        <p:spPr>
          <a:xfrm>
            <a:off x="5029274" y="5425110"/>
            <a:ext cx="1173892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(Scan to Verify)</a:t>
            </a:r>
            <a:endParaRPr lang="en-US" sz="1220" dirty="0"/>
          </a:p>
        </p:txBody>
      </p:sp>
      <p:sp>
        <p:nvSpPr>
          <p:cNvPr id="79" name="Text 58"/>
          <p:cNvSpPr txBox="1"/>
          <p:nvPr/>
        </p:nvSpPr>
        <p:spPr>
          <a:xfrm>
            <a:off x="4374366" y="5635175"/>
            <a:ext cx="2334438" cy="2585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consumer app interface.</a:t>
            </a:r>
            <a:endParaRPr lang="en-US" sz="1200" dirty="0"/>
          </a:p>
        </p:txBody>
      </p:sp>
      <p:sp>
        <p:nvSpPr>
          <p:cNvPr id="80" name="Text 59"/>
          <p:cNvSpPr txBox="1"/>
          <p:nvPr/>
        </p:nvSpPr>
        <p:spPr>
          <a:xfrm>
            <a:off x="4386723" y="5808170"/>
            <a:ext cx="1222330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 scale QR.</a:t>
            </a:r>
            <a:endParaRPr lang="en-US" sz="1150" dirty="0"/>
          </a:p>
        </p:txBody>
      </p:sp>
      <p:sp>
        <p:nvSpPr>
          <p:cNvPr id="81" name="Text 60"/>
          <p:cNvSpPr txBox="1"/>
          <p:nvPr/>
        </p:nvSpPr>
        <p:spPr>
          <a:xfrm>
            <a:off x="4386723" y="6005878"/>
            <a:ext cx="1444752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Queries platform.</a:t>
            </a:r>
            <a:endParaRPr lang="en-US" sz="1250" dirty="0"/>
          </a:p>
        </p:txBody>
      </p:sp>
      <p:sp>
        <p:nvSpPr>
          <p:cNvPr id="82" name="Text 61"/>
          <p:cNvSpPr txBox="1"/>
          <p:nvPr/>
        </p:nvSpPr>
        <p:spPr>
          <a:xfrm>
            <a:off x="4386723" y="6166516"/>
            <a:ext cx="1259401" cy="270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Displays result.</a:t>
            </a:r>
            <a:endParaRPr lang="en-US" sz="1230" dirty="0"/>
          </a:p>
        </p:txBody>
      </p:sp>
      <p:sp>
        <p:nvSpPr>
          <p:cNvPr id="83" name="Text 62"/>
          <p:cNvSpPr txBox="1"/>
          <p:nvPr/>
        </p:nvSpPr>
        <p:spPr>
          <a:xfrm>
            <a:off x="5807750" y="6215943"/>
            <a:ext cx="1025611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02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Fake</a:t>
            </a:r>
            <a:endParaRPr lang="en-US" sz="1240" dirty="0"/>
          </a:p>
        </p:txBody>
      </p:sp>
      <p:sp>
        <p:nvSpPr>
          <p:cNvPr id="84" name="Text 63"/>
          <p:cNvSpPr txBox="1"/>
          <p:nvPr/>
        </p:nvSpPr>
        <p:spPr>
          <a:xfrm>
            <a:off x="7068139" y="5350970"/>
            <a:ext cx="1729946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EXPIRATION ALERTS</a:t>
            </a:r>
            <a:endParaRPr lang="en-US" sz="1280" dirty="0"/>
          </a:p>
        </p:txBody>
      </p:sp>
      <p:sp>
        <p:nvSpPr>
          <p:cNvPr id="85" name="Text 64"/>
          <p:cNvSpPr txBox="1"/>
          <p:nvPr/>
        </p:nvSpPr>
        <p:spPr>
          <a:xfrm>
            <a:off x="7092853" y="5598105"/>
            <a:ext cx="1728957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10" dirty="0">
                <a:solidFill>
                  <a:srgbClr val="24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Owner reminders sent</a:t>
            </a:r>
            <a:endParaRPr lang="en-US" sz="1210" dirty="0"/>
          </a:p>
        </p:txBody>
      </p:sp>
      <p:sp>
        <p:nvSpPr>
          <p:cNvPr id="86" name="Text 65"/>
          <p:cNvSpPr txBox="1"/>
          <p:nvPr/>
        </p:nvSpPr>
        <p:spPr>
          <a:xfrm>
            <a:off x="7216420" y="5758743"/>
            <a:ext cx="1321184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25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expiration.</a:t>
            </a:r>
            <a:endParaRPr lang="en-US" sz="1240" dirty="0"/>
          </a:p>
        </p:txBody>
      </p:sp>
      <p:sp>
        <p:nvSpPr>
          <p:cNvPr id="87" name="Text 66"/>
          <p:cNvSpPr txBox="1"/>
          <p:nvPr/>
        </p:nvSpPr>
        <p:spPr>
          <a:xfrm>
            <a:off x="7080496" y="5956451"/>
            <a:ext cx="1827811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4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 notified of</a:t>
            </a:r>
            <a:endParaRPr lang="en-US" sz="1250" dirty="0"/>
          </a:p>
        </p:txBody>
      </p:sp>
      <p:sp>
        <p:nvSpPr>
          <p:cNvPr id="88" name="Text 67"/>
          <p:cNvSpPr txBox="1"/>
          <p:nvPr/>
        </p:nvSpPr>
        <p:spPr>
          <a:xfrm>
            <a:off x="7216420" y="6154159"/>
            <a:ext cx="1617747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241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expirations.</a:t>
            </a:r>
            <a:endParaRPr lang="en-US" sz="1220" dirty="0"/>
          </a:p>
        </p:txBody>
      </p:sp>
      <p:sp>
        <p:nvSpPr>
          <p:cNvPr id="89" name="Text 68"/>
          <p:cNvSpPr txBox="1"/>
          <p:nvPr/>
        </p:nvSpPr>
        <p:spPr>
          <a:xfrm>
            <a:off x="9638344" y="5363327"/>
            <a:ext cx="2545492" cy="221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DASHBOARD</a:t>
            </a:r>
            <a:endParaRPr lang="en-US" sz="1430" dirty="0"/>
          </a:p>
        </p:txBody>
      </p:sp>
      <p:sp>
        <p:nvSpPr>
          <p:cNvPr id="90" name="Text 69"/>
          <p:cNvSpPr txBox="1"/>
          <p:nvPr/>
        </p:nvSpPr>
        <p:spPr>
          <a:xfrm>
            <a:off x="9749555" y="5573392"/>
            <a:ext cx="2087303" cy="283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•Live inspection status map.</a:t>
            </a:r>
            <a:endParaRPr lang="en-US" sz="1240" dirty="0"/>
          </a:p>
        </p:txBody>
      </p:sp>
      <p:sp>
        <p:nvSpPr>
          <p:cNvPr id="91" name="Text 70"/>
          <p:cNvSpPr txBox="1"/>
          <p:nvPr/>
        </p:nvSpPr>
        <p:spPr>
          <a:xfrm>
            <a:off x="9749555" y="5783456"/>
            <a:ext cx="1420038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Overdue task list.</a:t>
            </a:r>
            <a:endParaRPr lang="en-US" sz="1230" dirty="0"/>
          </a:p>
        </p:txBody>
      </p:sp>
      <p:sp>
        <p:nvSpPr>
          <p:cNvPr id="92" name="Text 71"/>
          <p:cNvSpPr txBox="1"/>
          <p:nvPr/>
        </p:nvSpPr>
        <p:spPr>
          <a:xfrm>
            <a:off x="9761912" y="5956451"/>
            <a:ext cx="1382968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Pending task list.</a:t>
            </a:r>
            <a:endParaRPr lang="en-US" sz="1220" dirty="0"/>
          </a:p>
        </p:txBody>
      </p:sp>
      <p:sp>
        <p:nvSpPr>
          <p:cNvPr id="93" name="Text 72"/>
          <p:cNvSpPr txBox="1"/>
          <p:nvPr/>
        </p:nvSpPr>
        <p:spPr>
          <a:xfrm>
            <a:off x="11306507" y="5956451"/>
            <a:ext cx="395416" cy="184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760" dirty="0"/>
          </a:p>
        </p:txBody>
      </p:sp>
      <p:sp>
        <p:nvSpPr>
          <p:cNvPr id="94" name="Text 73"/>
          <p:cNvSpPr txBox="1"/>
          <p:nvPr/>
        </p:nvSpPr>
        <p:spPr>
          <a:xfrm>
            <a:off x="9885480" y="6092375"/>
            <a:ext cx="1259401" cy="32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10" dirty="0">
                <a:solidFill>
                  <a:srgbClr val="0101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reports.</a:t>
            </a:r>
            <a:endParaRPr lang="en-US" sz="1210" dirty="0"/>
          </a:p>
        </p:txBody>
      </p:sp>
      <p:sp>
        <p:nvSpPr>
          <p:cNvPr id="95" name="Text 74"/>
          <p:cNvSpPr txBox="1"/>
          <p:nvPr/>
        </p:nvSpPr>
        <p:spPr>
          <a:xfrm>
            <a:off x="5449404" y="6636073"/>
            <a:ext cx="2162432" cy="221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200" dirty="0"/>
          </a:p>
          <a:p>
            <a:pPr marL="0" indent="0" algn="ctr">
              <a:buNone/>
            </a:pPr>
            <a:endParaRPr lang="en-US" sz="1110" dirty="0"/>
          </a:p>
        </p:txBody>
      </p:sp>
      <p:sp>
        <p:nvSpPr>
          <p:cNvPr id="96" name="Text 75"/>
          <p:cNvSpPr txBox="1"/>
          <p:nvPr/>
        </p:nvSpPr>
        <p:spPr>
          <a:xfrm>
            <a:off x="11862561" y="6636073"/>
            <a:ext cx="123568" cy="209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1190" dirty="0"/>
          </a:p>
        </p:txBody>
      </p:sp>
      <p:sp>
        <p:nvSpPr>
          <p:cNvPr id="97" name="Text 76"/>
          <p:cNvSpPr txBox="1"/>
          <p:nvPr/>
        </p:nvSpPr>
        <p:spPr>
          <a:xfrm>
            <a:off x="531415" y="6191229"/>
            <a:ext cx="531341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50" dirty="0"/>
          </a:p>
        </p:txBody>
      </p:sp>
      <p:sp>
        <p:nvSpPr>
          <p:cNvPr id="98" name="Text 77"/>
          <p:cNvSpPr txBox="1"/>
          <p:nvPr/>
        </p:nvSpPr>
        <p:spPr>
          <a:xfrm>
            <a:off x="1519955" y="6191229"/>
            <a:ext cx="667265" cy="246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</a:t>
            </a:r>
            <a:endParaRPr lang="en-US" sz="1240" dirty="0"/>
          </a:p>
        </p:txBody>
      </p:sp>
      <p:sp>
        <p:nvSpPr>
          <p:cNvPr id="99" name="Text 78"/>
          <p:cNvSpPr txBox="1"/>
          <p:nvPr/>
        </p:nvSpPr>
        <p:spPr>
          <a:xfrm>
            <a:off x="2570280" y="6178873"/>
            <a:ext cx="518984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10" dirty="0"/>
          </a:p>
        </p:txBody>
      </p:sp>
      <p:sp>
        <p:nvSpPr>
          <p:cNvPr id="100" name="Text 79"/>
          <p:cNvSpPr txBox="1"/>
          <p:nvPr/>
        </p:nvSpPr>
        <p:spPr>
          <a:xfrm>
            <a:off x="3348755" y="6178873"/>
            <a:ext cx="790832" cy="233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170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B1F1B314-F54D-8067-5064-43B90C56FC4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231" y="88108"/>
            <a:ext cx="1774636" cy="83795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ne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852" y="2667019"/>
            <a:ext cx="130965" cy="595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69351" y="952562"/>
            <a:ext cx="2643121" cy="940570"/>
          </a:xfrm>
          <a:prstGeom prst="roundRect">
            <a:avLst>
              <a:gd name="adj" fmla="val 5833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97665" y="2000287"/>
            <a:ext cx="2262131" cy="1178689"/>
          </a:xfrm>
          <a:prstGeom prst="roundRect">
            <a:avLst>
              <a:gd name="adj" fmla="val 4655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5759" y="4131451"/>
            <a:ext cx="2274037" cy="1547774"/>
          </a:xfrm>
          <a:prstGeom prst="roundRect">
            <a:avLst>
              <a:gd name="adj" fmla="val 3545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88661" y="2000287"/>
            <a:ext cx="2297849" cy="1178689"/>
          </a:xfrm>
          <a:prstGeom prst="roundRect">
            <a:avLst>
              <a:gd name="adj" fmla="val 4655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12472" y="4131451"/>
            <a:ext cx="2250225" cy="1500150"/>
          </a:xfrm>
          <a:prstGeom prst="roundRect">
            <a:avLst>
              <a:gd name="adj" fmla="val 3657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55593" y="1274023"/>
            <a:ext cx="4095648" cy="1095348"/>
          </a:xfrm>
          <a:prstGeom prst="roundRect">
            <a:avLst>
              <a:gd name="adj" fmla="val 5009"/>
            </a:avLst>
          </a:prstGeom>
          <a:solidFill>
            <a:srgbClr val="E6EBEF"/>
          </a:solidFill>
          <a:ln w="12700">
            <a:solidFill>
              <a:srgbClr val="E6EBE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55593" y="2452712"/>
            <a:ext cx="4095648" cy="1107254"/>
          </a:xfrm>
          <a:prstGeom prst="roundRect">
            <a:avLst>
              <a:gd name="adj" fmla="val 4955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55593" y="3631401"/>
            <a:ext cx="4095648" cy="1119160"/>
          </a:xfrm>
          <a:prstGeom prst="roundRect">
            <a:avLst>
              <a:gd name="adj" fmla="val 4902"/>
            </a:avLst>
          </a:prstGeom>
          <a:solidFill>
            <a:srgbClr val="E7EBEE"/>
          </a:solidFill>
          <a:ln w="12700">
            <a:solidFill>
              <a:srgbClr val="E7EBEE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55593" y="4798185"/>
            <a:ext cx="4095648" cy="1095348"/>
          </a:xfrm>
          <a:prstGeom prst="roundRect">
            <a:avLst>
              <a:gd name="adj" fmla="val 5009"/>
            </a:avLst>
          </a:prstGeom>
          <a:solidFill>
            <a:srgbClr val="E6EBEE"/>
          </a:solidFill>
          <a:ln w="12700">
            <a:solidFill>
              <a:srgbClr val="E6EBEE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0" y="6500737"/>
            <a:ext cx="12653963" cy="357179"/>
          </a:xfrm>
          <a:prstGeom prst="rect">
            <a:avLst/>
          </a:prstGeom>
          <a:solidFill>
            <a:srgbClr val="026EBB"/>
          </a:solidFill>
          <a:ln w="12700">
            <a:solidFill>
              <a:srgbClr val="026EB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94863" y="619196"/>
            <a:ext cx="0" cy="5226713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pic>
        <p:nvPicPr>
          <p:cNvPr id="14" name="Image 1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64" y="5953062"/>
            <a:ext cx="11870234" cy="47623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315123" y="845409"/>
            <a:ext cx="4036118" cy="333367"/>
          </a:xfrm>
          <a:prstGeom prst="rect">
            <a:avLst/>
          </a:prstGeom>
          <a:solidFill>
            <a:srgbClr val="0D2544"/>
          </a:solidFill>
          <a:ln w="12700">
            <a:solidFill>
              <a:srgbClr val="0D2544">
                <a:alpha val="0"/>
              </a:srgbClr>
            </a:solidFill>
            <a:prstDash val="solid"/>
          </a:ln>
        </p:spPr>
      </p:sp>
      <p:pic>
        <p:nvPicPr>
          <p:cNvPr id="16" name="Image 2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594" y="1274023"/>
            <a:ext cx="1154877" cy="1095348"/>
          </a:xfrm>
          <a:prstGeom prst="rect">
            <a:avLst/>
          </a:prstGeom>
        </p:spPr>
      </p:pic>
      <p:pic>
        <p:nvPicPr>
          <p:cNvPr id="17" name="Image 3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564" y="1274023"/>
            <a:ext cx="2952676" cy="523862"/>
          </a:xfrm>
          <a:prstGeom prst="rect">
            <a:avLst/>
          </a:prstGeom>
        </p:spPr>
      </p:pic>
      <p:pic>
        <p:nvPicPr>
          <p:cNvPr id="18" name="Image 4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594" y="2452712"/>
            <a:ext cx="1154877" cy="1107254"/>
          </a:xfrm>
          <a:prstGeom prst="rect">
            <a:avLst/>
          </a:prstGeom>
        </p:spPr>
      </p:pic>
      <p:pic>
        <p:nvPicPr>
          <p:cNvPr id="19" name="Image 5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564" y="2452712"/>
            <a:ext cx="2952676" cy="535768"/>
          </a:xfrm>
          <a:prstGeom prst="rect">
            <a:avLst/>
          </a:prstGeom>
        </p:spPr>
      </p:pic>
      <p:pic>
        <p:nvPicPr>
          <p:cNvPr id="20" name="Image 6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5594" y="3631401"/>
            <a:ext cx="1154877" cy="1119160"/>
          </a:xfrm>
          <a:prstGeom prst="rect">
            <a:avLst/>
          </a:prstGeom>
        </p:spPr>
      </p:pic>
      <p:pic>
        <p:nvPicPr>
          <p:cNvPr id="21" name="Image 7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6469" y="3650118"/>
            <a:ext cx="2952676" cy="535768"/>
          </a:xfrm>
          <a:prstGeom prst="rect">
            <a:avLst/>
          </a:prstGeom>
        </p:spPr>
      </p:pic>
      <p:pic>
        <p:nvPicPr>
          <p:cNvPr id="22" name="Image 8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5594" y="4798185"/>
            <a:ext cx="1154877" cy="1095348"/>
          </a:xfrm>
          <a:prstGeom prst="rect">
            <a:avLst/>
          </a:prstGeom>
        </p:spPr>
      </p:pic>
      <p:pic>
        <p:nvPicPr>
          <p:cNvPr id="23" name="Image 9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8564" y="4798185"/>
            <a:ext cx="2952676" cy="535768"/>
          </a:xfrm>
          <a:prstGeom prst="rect">
            <a:avLst/>
          </a:prstGeom>
        </p:spPr>
      </p:pic>
      <p:sp>
        <p:nvSpPr>
          <p:cNvPr id="25" name="image2ppt-measured-path-1"/>
          <p:cNvSpPr/>
          <p:nvPr/>
        </p:nvSpPr>
        <p:spPr>
          <a:xfrm>
            <a:off x="2802667" y="4353992"/>
            <a:ext cx="750074" cy="1247845"/>
          </a:xfrm>
          <a:custGeom>
            <a:avLst/>
            <a:gdLst/>
            <a:ahLst/>
            <a:cxnLst/>
            <a:rect l="l" t="t" r="r" b="b"/>
            <a:pathLst>
              <a:path w="750074" h="1247845" fill="none">
                <a:moveTo>
                  <a:pt x="750074" y="3546"/>
                </a:moveTo>
                <a:lnTo>
                  <a:pt x="714357" y="3546"/>
                </a:lnTo>
                <a:cubicBezTo>
                  <a:pt x="635856" y="4107"/>
                  <a:pt x="568683" y="0"/>
                  <a:pt x="519100" y="75109"/>
                </a:cubicBezTo>
                <a:cubicBezTo>
                  <a:pt x="429671" y="210575"/>
                  <a:pt x="592245" y="1035206"/>
                  <a:pt x="428614" y="1153788"/>
                </a:cubicBezTo>
                <a:cubicBezTo>
                  <a:pt x="371505" y="1195175"/>
                  <a:pt x="193158" y="1182363"/>
                  <a:pt x="119060" y="1182363"/>
                </a:cubicBezTo>
                <a:lnTo>
                  <a:pt x="77389" y="1182363"/>
                </a:lnTo>
              </a:path>
              <a:path w="750074" h="1247845" stroke="0">
                <a:moveTo>
                  <a:pt x="0" y="1182363"/>
                </a:moveTo>
                <a:lnTo>
                  <a:pt x="77389" y="1099021"/>
                </a:lnTo>
                <a:lnTo>
                  <a:pt x="77389" y="1247845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26" name="image2ppt-measured-path-2"/>
          <p:cNvSpPr/>
          <p:nvPr/>
        </p:nvSpPr>
        <p:spPr>
          <a:xfrm>
            <a:off x="4874313" y="4352361"/>
            <a:ext cx="589334" cy="1237570"/>
          </a:xfrm>
          <a:custGeom>
            <a:avLst/>
            <a:gdLst/>
            <a:ahLst/>
            <a:cxnLst/>
            <a:rect l="l" t="t" r="r" b="b"/>
            <a:pathLst>
              <a:path w="589334" h="1237570" fill="none">
                <a:moveTo>
                  <a:pt x="0" y="4793"/>
                </a:moveTo>
                <a:lnTo>
                  <a:pt x="47613" y="4793"/>
                </a:lnTo>
                <a:cubicBezTo>
                  <a:pt x="114909" y="6235"/>
                  <a:pt x="165881" y="0"/>
                  <a:pt x="209534" y="64833"/>
                </a:cubicBezTo>
                <a:cubicBezTo>
                  <a:pt x="278190" y="166802"/>
                  <a:pt x="161989" y="1023028"/>
                  <a:pt x="273826" y="1136369"/>
                </a:cubicBezTo>
                <a:cubicBezTo>
                  <a:pt x="332800" y="1196136"/>
                  <a:pt x="423856" y="1183993"/>
                  <a:pt x="500039" y="1183993"/>
                </a:cubicBezTo>
                <a:lnTo>
                  <a:pt x="508373" y="1183993"/>
                </a:lnTo>
              </a:path>
              <a:path w="589334" h="1237570" stroke="0">
                <a:moveTo>
                  <a:pt x="589334" y="1183993"/>
                </a:moveTo>
                <a:lnTo>
                  <a:pt x="505992" y="1237570"/>
                </a:lnTo>
                <a:lnTo>
                  <a:pt x="505992" y="1124463"/>
                </a:lnTo>
                <a:close/>
              </a:path>
            </a:pathLst>
          </a:custGeom>
          <a:solidFill>
            <a:srgbClr val="000000"/>
          </a:solidFill>
          <a:ln w="35719">
            <a:solidFill>
              <a:srgbClr val="000000"/>
            </a:solidFill>
            <a:prstDash val="solid"/>
          </a:ln>
        </p:spPr>
      </p:sp>
      <p:sp>
        <p:nvSpPr>
          <p:cNvPr id="27" name="image2ppt-measured-path-3"/>
          <p:cNvSpPr/>
          <p:nvPr/>
        </p:nvSpPr>
        <p:spPr>
          <a:xfrm>
            <a:off x="2802667" y="1952662"/>
            <a:ext cx="500050" cy="1327514"/>
          </a:xfrm>
          <a:custGeom>
            <a:avLst/>
            <a:gdLst/>
            <a:ahLst/>
            <a:cxnLst/>
            <a:rect l="l" t="t" r="r" b="b"/>
            <a:pathLst>
              <a:path w="500050" h="1327514" fill="none">
                <a:moveTo>
                  <a:pt x="89295" y="59530"/>
                </a:moveTo>
                <a:lnTo>
                  <a:pt x="107154" y="59530"/>
                </a:lnTo>
                <a:cubicBezTo>
                  <a:pt x="212476" y="59530"/>
                  <a:pt x="447118" y="28635"/>
                  <a:pt x="482579" y="166277"/>
                </a:cubicBezTo>
                <a:lnTo>
                  <a:pt x="500050" y="234090"/>
                </a:lnTo>
                <a:lnTo>
                  <a:pt x="500050" y="1327514"/>
                </a:lnTo>
              </a:path>
              <a:path w="500050" h="1327514" stroke="0">
                <a:moveTo>
                  <a:pt x="0" y="59530"/>
                </a:moveTo>
                <a:lnTo>
                  <a:pt x="89295" y="0"/>
                </a:lnTo>
                <a:lnTo>
                  <a:pt x="89295" y="113107"/>
                </a:lnTo>
                <a:close/>
              </a:path>
            </a:pathLst>
          </a:custGeom>
          <a:solidFill>
            <a:srgbClr val="000000"/>
          </a:solidFill>
          <a:ln w="23813">
            <a:solidFill>
              <a:srgbClr val="000000"/>
            </a:solidFill>
            <a:prstDash val="solid"/>
          </a:ln>
        </p:spPr>
      </p:sp>
      <p:sp>
        <p:nvSpPr>
          <p:cNvPr id="28" name="image2ppt-measured-path-4"/>
          <p:cNvSpPr/>
          <p:nvPr/>
        </p:nvSpPr>
        <p:spPr>
          <a:xfrm>
            <a:off x="5067048" y="1945819"/>
            <a:ext cx="414257" cy="1340112"/>
          </a:xfrm>
          <a:custGeom>
            <a:avLst/>
            <a:gdLst/>
            <a:ahLst/>
            <a:cxnLst/>
            <a:rect l="l" t="t" r="r" b="b"/>
            <a:pathLst>
              <a:path w="414257" h="1340112" fill="none">
                <a:moveTo>
                  <a:pt x="301490" y="62905"/>
                </a:moveTo>
                <a:lnTo>
                  <a:pt x="283493" y="62905"/>
                </a:lnTo>
                <a:cubicBezTo>
                  <a:pt x="205683" y="67228"/>
                  <a:pt x="128775" y="69783"/>
                  <a:pt x="76330" y="137808"/>
                </a:cubicBezTo>
                <a:cubicBezTo>
                  <a:pt x="0" y="236813"/>
                  <a:pt x="52237" y="1109020"/>
                  <a:pt x="31593" y="1304592"/>
                </a:cubicBezTo>
                <a:lnTo>
                  <a:pt x="31593" y="1340112"/>
                </a:lnTo>
              </a:path>
              <a:path w="414257" h="1340112" stroke="0">
                <a:moveTo>
                  <a:pt x="414257" y="59108"/>
                </a:moveTo>
                <a:lnTo>
                  <a:pt x="305287" y="136708"/>
                </a:lnTo>
                <a:lnTo>
                  <a:pt x="297692" y="0"/>
                </a:lnTo>
                <a:close/>
              </a:path>
            </a:pathLst>
          </a:custGeom>
          <a:solidFill>
            <a:srgbClr val="000000"/>
          </a:solidFill>
          <a:ln w="35719">
            <a:solidFill>
              <a:srgbClr val="000000"/>
            </a:solidFill>
            <a:prstDash val="solid"/>
          </a:ln>
        </p:spPr>
      </p:sp>
      <p:pic>
        <p:nvPicPr>
          <p:cNvPr id="29" name="Image 11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33632" y="2405088"/>
            <a:ext cx="2488344" cy="2488344"/>
          </a:xfrm>
          <a:prstGeom prst="rect">
            <a:avLst/>
          </a:prstGeom>
        </p:spPr>
      </p:pic>
      <p:pic>
        <p:nvPicPr>
          <p:cNvPr id="32" name="Image 14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4183" y="2643208"/>
            <a:ext cx="785793" cy="773887"/>
          </a:xfrm>
          <a:prstGeom prst="rect">
            <a:avLst/>
          </a:prstGeom>
        </p:spPr>
      </p:pic>
      <p:pic>
        <p:nvPicPr>
          <p:cNvPr id="33" name="Image 15" descr="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4183" y="1452613"/>
            <a:ext cx="797699" cy="750075"/>
          </a:xfrm>
          <a:prstGeom prst="rect">
            <a:avLst/>
          </a:prstGeom>
        </p:spPr>
      </p:pic>
      <p:pic>
        <p:nvPicPr>
          <p:cNvPr id="34" name="Image 16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34183" y="3857615"/>
            <a:ext cx="761981" cy="702451"/>
          </a:xfrm>
          <a:prstGeom prst="rect">
            <a:avLst/>
          </a:prstGeom>
        </p:spPr>
      </p:pic>
      <p:pic>
        <p:nvPicPr>
          <p:cNvPr id="35" name="Image 17" descr="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34183" y="5036305"/>
            <a:ext cx="761981" cy="654827"/>
          </a:xfrm>
          <a:prstGeom prst="rect">
            <a:avLst/>
          </a:prstGeom>
        </p:spPr>
      </p:pic>
      <p:pic>
        <p:nvPicPr>
          <p:cNvPr id="36" name="Image 18" descr="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09920" y="1797885"/>
            <a:ext cx="583392" cy="595298"/>
          </a:xfrm>
          <a:prstGeom prst="rect">
            <a:avLst/>
          </a:prstGeom>
        </p:spPr>
      </p:pic>
      <p:pic>
        <p:nvPicPr>
          <p:cNvPr id="37" name="Image 19" descr="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71651" y="5357764"/>
            <a:ext cx="428614" cy="428614"/>
          </a:xfrm>
          <a:prstGeom prst="rect">
            <a:avLst/>
          </a:prstGeom>
        </p:spPr>
      </p:pic>
      <p:pic>
        <p:nvPicPr>
          <p:cNvPr id="38" name="Image 20" descr="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72001" y="5357764"/>
            <a:ext cx="416708" cy="428614"/>
          </a:xfrm>
          <a:prstGeom prst="rect">
            <a:avLst/>
          </a:prstGeom>
        </p:spPr>
      </p:pic>
      <p:pic>
        <p:nvPicPr>
          <p:cNvPr id="39" name="Image 21" descr="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83907" y="1809790"/>
            <a:ext cx="392896" cy="452426"/>
          </a:xfrm>
          <a:prstGeom prst="rect">
            <a:avLst/>
          </a:prstGeom>
        </p:spPr>
      </p:pic>
      <p:pic>
        <p:nvPicPr>
          <p:cNvPr id="40" name="Image 22" descr="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19276" y="1809790"/>
            <a:ext cx="369085" cy="440520"/>
          </a:xfrm>
          <a:prstGeom prst="rect">
            <a:avLst/>
          </a:prstGeom>
        </p:spPr>
      </p:pic>
      <p:sp>
        <p:nvSpPr>
          <p:cNvPr id="41" name="Text 16"/>
          <p:cNvSpPr txBox="1"/>
          <p:nvPr/>
        </p:nvSpPr>
        <p:spPr>
          <a:xfrm>
            <a:off x="3386058" y="97050"/>
            <a:ext cx="5988694" cy="69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6"/>
              </a:lnSpc>
            </a:pPr>
            <a:r>
              <a:rPr lang="en-US" sz="247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 IMPACT &amp; BENEFITS:</a:t>
            </a:r>
            <a:endParaRPr lang="en-US" sz="2470" dirty="0"/>
          </a:p>
          <a:p>
            <a:pPr algn="ctr">
              <a:lnSpc>
                <a:spcPts val="2906"/>
              </a:lnSpc>
            </a:pPr>
            <a:r>
              <a:rPr lang="en-US" sz="247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THROUGH VERIFICATION</a:t>
            </a:r>
            <a:endParaRPr lang="en-US" sz="2470" dirty="0"/>
          </a:p>
        </p:txBody>
      </p:sp>
      <p:sp>
        <p:nvSpPr>
          <p:cNvPr id="42" name="Text 17"/>
          <p:cNvSpPr txBox="1"/>
          <p:nvPr/>
        </p:nvSpPr>
        <p:spPr>
          <a:xfrm>
            <a:off x="3659895" y="3357564"/>
            <a:ext cx="1059630" cy="680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75"/>
              </a:lnSpc>
            </a:pPr>
            <a:r>
              <a:rPr lang="en-US" sz="14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</a:t>
            </a:r>
            <a:endParaRPr lang="en-US" sz="1420" dirty="0"/>
          </a:p>
          <a:p>
            <a:pPr algn="ctr">
              <a:lnSpc>
                <a:spcPts val="1875"/>
              </a:lnSpc>
            </a:pPr>
            <a:r>
              <a:rPr lang="en-US" sz="14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&amp;</a:t>
            </a:r>
            <a:endParaRPr lang="en-US" sz="1420" dirty="0"/>
          </a:p>
          <a:p>
            <a:pPr algn="ctr">
              <a:lnSpc>
                <a:spcPts val="1875"/>
              </a:lnSpc>
            </a:pPr>
            <a:r>
              <a:rPr lang="en-US" sz="142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</a:t>
            </a:r>
            <a:endParaRPr lang="en-US" sz="1420" dirty="0"/>
          </a:p>
        </p:txBody>
      </p:sp>
      <p:sp>
        <p:nvSpPr>
          <p:cNvPr id="43" name="Text 18"/>
          <p:cNvSpPr txBox="1"/>
          <p:nvPr/>
        </p:nvSpPr>
        <p:spPr>
          <a:xfrm>
            <a:off x="3302718" y="1011235"/>
            <a:ext cx="1370901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Department:</a:t>
            </a:r>
            <a:endParaRPr lang="en-US" sz="1680" dirty="0"/>
          </a:p>
        </p:txBody>
      </p:sp>
      <p:sp>
        <p:nvSpPr>
          <p:cNvPr id="44" name="Text 19"/>
          <p:cNvSpPr txBox="1"/>
          <p:nvPr/>
        </p:nvSpPr>
        <p:spPr>
          <a:xfrm>
            <a:off x="3217658" y="1271418"/>
            <a:ext cx="2097164" cy="311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Central triage &amp; officer allocation</a:t>
            </a:r>
          </a:p>
        </p:txBody>
      </p:sp>
      <p:sp>
        <p:nvSpPr>
          <p:cNvPr id="45" name="Text 20"/>
          <p:cNvSpPr txBox="1"/>
          <p:nvPr/>
        </p:nvSpPr>
        <p:spPr>
          <a:xfrm>
            <a:off x="3028881" y="1511285"/>
            <a:ext cx="204117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100" dirty="0"/>
          </a:p>
        </p:txBody>
      </p:sp>
      <p:sp>
        <p:nvSpPr>
          <p:cNvPr id="46" name="Text 21"/>
          <p:cNvSpPr txBox="1"/>
          <p:nvPr/>
        </p:nvSpPr>
        <p:spPr>
          <a:xfrm>
            <a:off x="3302718" y="1511285"/>
            <a:ext cx="2323377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Stamping throughput intelligence</a:t>
            </a:r>
          </a:p>
        </p:txBody>
      </p:sp>
      <p:sp>
        <p:nvSpPr>
          <p:cNvPr id="47" name="Text 22"/>
          <p:cNvSpPr txBox="1"/>
          <p:nvPr/>
        </p:nvSpPr>
        <p:spPr>
          <a:xfrm>
            <a:off x="6172051" y="2070864"/>
            <a:ext cx="954192" cy="2636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b="1" dirty="0">
                <a:solidFill>
                  <a:srgbClr val="0000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Traders:</a:t>
            </a:r>
            <a:endParaRPr lang="en-US" sz="1680" dirty="0"/>
          </a:p>
        </p:txBody>
      </p:sp>
      <p:sp>
        <p:nvSpPr>
          <p:cNvPr id="48" name="Text 23"/>
          <p:cNvSpPr txBox="1"/>
          <p:nvPr/>
        </p:nvSpPr>
        <p:spPr>
          <a:xfrm>
            <a:off x="5648190" y="2320889"/>
            <a:ext cx="2204317" cy="335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Auto-location &amp; pincode matching</a:t>
            </a:r>
          </a:p>
        </p:txBody>
      </p:sp>
      <p:sp>
        <p:nvSpPr>
          <p:cNvPr id="49" name="Text 24"/>
          <p:cNvSpPr txBox="1"/>
          <p:nvPr/>
        </p:nvSpPr>
        <p:spPr>
          <a:xfrm>
            <a:off x="5660096" y="2594726"/>
            <a:ext cx="358895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20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endParaRPr lang="en-US" sz="1320" dirty="0"/>
          </a:p>
        </p:txBody>
      </p:sp>
      <p:sp>
        <p:nvSpPr>
          <p:cNvPr id="50" name="Text 25"/>
          <p:cNvSpPr txBox="1"/>
          <p:nvPr/>
        </p:nvSpPr>
        <p:spPr>
          <a:xfrm>
            <a:off x="5945838" y="2594725"/>
            <a:ext cx="1868377" cy="5255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GSTIN/PAN &amp; compliance tracking</a:t>
            </a:r>
          </a:p>
        </p:txBody>
      </p:sp>
      <p:sp>
        <p:nvSpPr>
          <p:cNvPr id="51" name="Text 26"/>
          <p:cNvSpPr txBox="1"/>
          <p:nvPr/>
        </p:nvSpPr>
        <p:spPr>
          <a:xfrm>
            <a:off x="5648190" y="4166312"/>
            <a:ext cx="1275653" cy="275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Consumers:</a:t>
            </a:r>
            <a:endParaRPr lang="en-US" sz="1680" dirty="0"/>
          </a:p>
        </p:txBody>
      </p:sp>
      <p:sp>
        <p:nvSpPr>
          <p:cNvPr id="52" name="Text 27"/>
          <p:cNvSpPr txBox="1"/>
          <p:nvPr/>
        </p:nvSpPr>
        <p:spPr>
          <a:xfrm>
            <a:off x="5660095" y="4487772"/>
            <a:ext cx="156494" cy="144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1000" dirty="0"/>
          </a:p>
        </p:txBody>
      </p:sp>
      <p:sp>
        <p:nvSpPr>
          <p:cNvPr id="53" name="Text 28"/>
          <p:cNvSpPr txBox="1"/>
          <p:nvPr/>
        </p:nvSpPr>
        <p:spPr>
          <a:xfrm>
            <a:off x="5910120" y="4452912"/>
            <a:ext cx="1954292" cy="513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t>• Instant QR scan verification</a:t>
            </a:r>
          </a:p>
        </p:txBody>
      </p:sp>
      <p:sp>
        <p:nvSpPr>
          <p:cNvPr id="54" name="Text 29"/>
          <p:cNvSpPr txBox="1"/>
          <p:nvPr/>
        </p:nvSpPr>
        <p:spPr>
          <a:xfrm>
            <a:off x="5672002" y="4880669"/>
            <a:ext cx="335083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0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endParaRPr lang="en-US" sz="1500" dirty="0"/>
          </a:p>
        </p:txBody>
      </p:sp>
      <p:sp>
        <p:nvSpPr>
          <p:cNvPr id="55" name="Text 30"/>
          <p:cNvSpPr txBox="1"/>
          <p:nvPr/>
        </p:nvSpPr>
        <p:spPr>
          <a:xfrm>
            <a:off x="5933933" y="4917244"/>
            <a:ext cx="1299465" cy="52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t>• View validity, class &amp; serial specs</a:t>
            </a:r>
          </a:p>
        </p:txBody>
      </p:sp>
      <p:sp>
        <p:nvSpPr>
          <p:cNvPr id="56" name="Text 31"/>
          <p:cNvSpPr txBox="1"/>
          <p:nvPr/>
        </p:nvSpPr>
        <p:spPr>
          <a:xfrm>
            <a:off x="457195" y="2058958"/>
            <a:ext cx="727979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4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LMOs:</a:t>
            </a:r>
            <a:endParaRPr lang="en-US" sz="1640" dirty="0"/>
          </a:p>
        </p:txBody>
      </p:sp>
      <p:sp>
        <p:nvSpPr>
          <p:cNvPr id="57" name="Text 32"/>
          <p:cNvSpPr txBox="1"/>
          <p:nvPr/>
        </p:nvSpPr>
        <p:spPr>
          <a:xfrm>
            <a:off x="445288" y="2308983"/>
            <a:ext cx="2132882" cy="323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7-Point digital inspection flow</a:t>
            </a:r>
          </a:p>
        </p:txBody>
      </p:sp>
      <p:sp>
        <p:nvSpPr>
          <p:cNvPr id="58" name="Text 33"/>
          <p:cNvSpPr txBox="1"/>
          <p:nvPr/>
        </p:nvSpPr>
        <p:spPr>
          <a:xfrm>
            <a:off x="445288" y="2582820"/>
            <a:ext cx="2180506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Today/Week/Month/Year metrics</a:t>
            </a:r>
          </a:p>
        </p:txBody>
      </p:sp>
      <p:sp>
        <p:nvSpPr>
          <p:cNvPr id="59" name="Text 34"/>
          <p:cNvSpPr txBox="1"/>
          <p:nvPr/>
        </p:nvSpPr>
        <p:spPr>
          <a:xfrm>
            <a:off x="457195" y="4154406"/>
            <a:ext cx="811321" cy="275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GATCs:</a:t>
            </a:r>
            <a:endParaRPr lang="en-US" sz="1620" dirty="0"/>
          </a:p>
        </p:txBody>
      </p:sp>
      <p:sp>
        <p:nvSpPr>
          <p:cNvPr id="60" name="Text 35"/>
          <p:cNvSpPr txBox="1"/>
          <p:nvPr/>
        </p:nvSpPr>
        <p:spPr>
          <a:xfrm>
            <a:off x="421476" y="4452055"/>
            <a:ext cx="2061446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Standardized test lab queues</a:t>
            </a:r>
          </a:p>
        </p:txBody>
      </p:sp>
      <p:sp>
        <p:nvSpPr>
          <p:cNvPr id="61" name="Text 36"/>
          <p:cNvSpPr txBox="1"/>
          <p:nvPr/>
        </p:nvSpPr>
        <p:spPr>
          <a:xfrm>
            <a:off x="445288" y="4666362"/>
            <a:ext cx="1680456" cy="323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t>• Digital calibration certificates</a:t>
            </a:r>
          </a:p>
        </p:txBody>
      </p:sp>
      <p:sp>
        <p:nvSpPr>
          <p:cNvPr id="62" name="Text 37"/>
          <p:cNvSpPr txBox="1"/>
          <p:nvPr/>
        </p:nvSpPr>
        <p:spPr>
          <a:xfrm>
            <a:off x="8422277" y="880269"/>
            <a:ext cx="3809905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30" b="1" dirty="0">
                <a:solidFill>
                  <a:srgbClr val="F4FD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PILOT TARGETS (TO BE VALIDATED)</a:t>
            </a:r>
            <a:endParaRPr lang="en-US" sz="1430" dirty="0"/>
          </a:p>
        </p:txBody>
      </p:sp>
      <p:sp>
        <p:nvSpPr>
          <p:cNvPr id="63" name="Text 38"/>
          <p:cNvSpPr txBox="1"/>
          <p:nvPr/>
        </p:nvSpPr>
        <p:spPr>
          <a:xfrm>
            <a:off x="9757459" y="1357365"/>
            <a:ext cx="1962766" cy="3571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Days </a:t>
            </a:r>
            <a:r>
              <a:rPr lang="en-US" sz="2250" dirty="0">
                <a:solidFill>
                  <a:srgbClr val="C4FD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(not weeks)</a:t>
            </a:r>
            <a:endParaRPr lang="en-US" sz="2250" dirty="0"/>
          </a:p>
        </p:txBody>
      </p:sp>
      <p:sp>
        <p:nvSpPr>
          <p:cNvPr id="64" name="Text 39"/>
          <p:cNvSpPr txBox="1"/>
          <p:nvPr/>
        </p:nvSpPr>
        <p:spPr>
          <a:xfrm>
            <a:off x="9517624" y="1820839"/>
            <a:ext cx="2905052" cy="251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00" dirty="0">
                <a:solidFill>
                  <a:srgbClr val="0001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Accelerated issuance from</a:t>
            </a:r>
            <a:endParaRPr lang="en-US" sz="1630" dirty="0"/>
          </a:p>
        </p:txBody>
      </p:sp>
      <p:sp>
        <p:nvSpPr>
          <p:cNvPr id="65" name="Text 40"/>
          <p:cNvSpPr txBox="1"/>
          <p:nvPr/>
        </p:nvSpPr>
        <p:spPr>
          <a:xfrm>
            <a:off x="9779555" y="2047052"/>
            <a:ext cx="2549590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00" dirty="0">
                <a:solidFill>
                  <a:srgbClr val="00010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to certificate.</a:t>
            </a:r>
            <a:endParaRPr lang="en-US" sz="1630" dirty="0"/>
          </a:p>
        </p:txBody>
      </p:sp>
      <p:sp>
        <p:nvSpPr>
          <p:cNvPr id="66" name="Text 41"/>
          <p:cNvSpPr txBox="1"/>
          <p:nvPr/>
        </p:nvSpPr>
        <p:spPr>
          <a:xfrm>
            <a:off x="9691118" y="2632159"/>
            <a:ext cx="2388002" cy="152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370" b="1" dirty="0">
                <a:solidFill>
                  <a:srgbClr val="E6FF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 </a:t>
            </a:r>
            <a:r>
              <a:rPr lang="en-US" sz="2370" dirty="0">
                <a:solidFill>
                  <a:srgbClr val="C5FF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</a:t>
            </a:r>
            <a:endParaRPr lang="en-US" sz="237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70A584C-D77C-372E-5E9C-8FC2D5BBE071}"/>
              </a:ext>
            </a:extLst>
          </p:cNvPr>
          <p:cNvSpPr/>
          <p:nvPr/>
        </p:nvSpPr>
        <p:spPr>
          <a:xfrm>
            <a:off x="9501991" y="3715601"/>
            <a:ext cx="2701632" cy="421803"/>
          </a:xfrm>
          <a:prstGeom prst="rect">
            <a:avLst/>
          </a:prstGeom>
          <a:solidFill>
            <a:srgbClr val="F46F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 42"/>
          <p:cNvSpPr txBox="1"/>
          <p:nvPr/>
        </p:nvSpPr>
        <p:spPr>
          <a:xfrm>
            <a:off x="9517625" y="3035246"/>
            <a:ext cx="346989" cy="287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3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endParaRPr lang="en-US" sz="1630" dirty="0"/>
          </a:p>
        </p:txBody>
      </p:sp>
      <p:sp>
        <p:nvSpPr>
          <p:cNvPr id="68" name="Text 43"/>
          <p:cNvSpPr txBox="1"/>
          <p:nvPr/>
        </p:nvSpPr>
        <p:spPr>
          <a:xfrm>
            <a:off x="9791462" y="3035245"/>
            <a:ext cx="2287659" cy="5136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63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certificates QR-verifiable</a:t>
            </a:r>
            <a:endParaRPr lang="en-US" sz="1630" dirty="0"/>
          </a:p>
          <a:p>
            <a:pPr>
              <a:lnSpc>
                <a:spcPts val="1688"/>
              </a:lnSpc>
            </a:pPr>
            <a:r>
              <a:rPr lang="en-US" sz="1630" dirty="0">
                <a:solidFill>
                  <a:srgbClr val="0000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trusted.</a:t>
            </a:r>
            <a:endParaRPr lang="en-US" sz="1630" dirty="0"/>
          </a:p>
        </p:txBody>
      </p:sp>
      <p:sp>
        <p:nvSpPr>
          <p:cNvPr id="69" name="Text 44"/>
          <p:cNvSpPr txBox="1"/>
          <p:nvPr/>
        </p:nvSpPr>
        <p:spPr>
          <a:xfrm>
            <a:off x="9553853" y="3817432"/>
            <a:ext cx="2775293" cy="211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37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T-60/30/7 </a:t>
            </a:r>
            <a:r>
              <a:rPr lang="en-US" sz="2370" dirty="0">
                <a:solidFill>
                  <a:srgbClr val="FFE2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Reminders</a:t>
            </a:r>
            <a:endParaRPr lang="en-US" sz="2370" dirty="0"/>
          </a:p>
        </p:txBody>
      </p:sp>
      <p:sp>
        <p:nvSpPr>
          <p:cNvPr id="70" name="Text 45"/>
          <p:cNvSpPr txBox="1"/>
          <p:nvPr/>
        </p:nvSpPr>
        <p:spPr>
          <a:xfrm>
            <a:off x="9731932" y="4226699"/>
            <a:ext cx="2430531" cy="537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69"/>
              </a:lnSpc>
            </a:pPr>
            <a:r>
              <a:rPr lang="en-US" sz="159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Timely alerts avoid renewal</a:t>
            </a:r>
            <a:endParaRPr lang="en-US" sz="1590" dirty="0"/>
          </a:p>
          <a:p>
            <a:pPr>
              <a:lnSpc>
                <a:spcPts val="1969"/>
              </a:lnSpc>
            </a:pPr>
            <a:r>
              <a:rPr lang="en-US" sz="1590" dirty="0">
                <a:solidFill>
                  <a:srgbClr val="00010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penalties.</a:t>
            </a:r>
            <a:endParaRPr lang="en-US" sz="1590" dirty="0"/>
          </a:p>
        </p:txBody>
      </p:sp>
      <p:sp>
        <p:nvSpPr>
          <p:cNvPr id="71" name="Text 46"/>
          <p:cNvSpPr txBox="1"/>
          <p:nvPr/>
        </p:nvSpPr>
        <p:spPr>
          <a:xfrm>
            <a:off x="9589919" y="4859433"/>
            <a:ext cx="2251941" cy="3920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350" b="1" dirty="0">
                <a:solidFill>
                  <a:srgbClr val="FF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view </a:t>
            </a:r>
            <a:r>
              <a:rPr lang="en-US" sz="2350" dirty="0">
                <a:solidFill>
                  <a:srgbClr val="FFE2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pendency</a:t>
            </a:r>
            <a:endParaRPr lang="en-US" sz="2350" dirty="0"/>
          </a:p>
        </p:txBody>
      </p:sp>
      <p:sp>
        <p:nvSpPr>
          <p:cNvPr id="72" name="Text 47"/>
          <p:cNvSpPr txBox="1"/>
          <p:nvPr/>
        </p:nvSpPr>
        <p:spPr>
          <a:xfrm>
            <a:off x="9708120" y="5357764"/>
            <a:ext cx="2382907" cy="537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6"/>
              </a:lnSpc>
            </a:pPr>
            <a:r>
              <a:rPr lang="en-US" sz="1590" dirty="0">
                <a:solidFill>
                  <a:srgbClr val="00010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Centralized view across all</a:t>
            </a:r>
            <a:endParaRPr lang="en-US" sz="1590" dirty="0"/>
          </a:p>
          <a:p>
            <a:pPr>
              <a:lnSpc>
                <a:spcPts val="2156"/>
              </a:lnSpc>
            </a:pPr>
            <a:r>
              <a:rPr lang="en-US" sz="1590" dirty="0">
                <a:solidFill>
                  <a:srgbClr val="00010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jurisdictions.</a:t>
            </a:r>
            <a:endParaRPr lang="en-US" sz="1590" dirty="0"/>
          </a:p>
        </p:txBody>
      </p:sp>
      <p:sp>
        <p:nvSpPr>
          <p:cNvPr id="73" name="Text 48"/>
          <p:cNvSpPr txBox="1"/>
          <p:nvPr/>
        </p:nvSpPr>
        <p:spPr>
          <a:xfrm>
            <a:off x="659596" y="6011735"/>
            <a:ext cx="11358279" cy="2993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defRPr i="1" b="1" sz="1200">
                <a:solidFill>
                  <a:srgbClr val="1E3A8A"/>
                </a:solidFill>
              </a:defRPr>
            </a:pPr>
            <a:r>
              <a:t>"India's First Unified Digital Trust Infrastructure for Legal Metrology — Empowering Consumers, Honest Traders &amp; Enforcement Authorities."</a:t>
            </a:r>
            <a:endParaRPr lang="en-US" sz="1760" dirty="0"/>
          </a:p>
        </p:txBody>
      </p:sp>
      <p:sp>
        <p:nvSpPr>
          <p:cNvPr id="74" name="Text 49"/>
          <p:cNvSpPr txBox="1"/>
          <p:nvPr/>
        </p:nvSpPr>
        <p:spPr>
          <a:xfrm>
            <a:off x="5160046" y="6559408"/>
            <a:ext cx="2631215" cy="227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7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27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1619C0FA-0C19-614C-BF3E-A2BA5DB16F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263" y="67400"/>
            <a:ext cx="1466094" cy="692262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348961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90693" y="1324980"/>
            <a:ext cx="2981206" cy="2760376"/>
          </a:xfrm>
          <a:prstGeom prst="roundRect">
            <a:avLst>
              <a:gd name="adj" fmla="val 1988"/>
            </a:avLst>
          </a:prstGeom>
          <a:solidFill>
            <a:srgbClr val="D9ECF5"/>
          </a:solidFill>
          <a:ln w="12700">
            <a:solidFill>
              <a:srgbClr val="D9EC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33242" y="1312712"/>
            <a:ext cx="2895327" cy="2772644"/>
          </a:xfrm>
          <a:prstGeom prst="roundRect">
            <a:avLst>
              <a:gd name="adj" fmla="val 1979"/>
            </a:avLst>
          </a:prstGeom>
          <a:solidFill>
            <a:srgbClr val="D9EFE2"/>
          </a:solidFill>
          <a:ln w="12700">
            <a:solidFill>
              <a:srgbClr val="D9EFE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0693" y="4187792"/>
            <a:ext cx="2981206" cy="2342796"/>
          </a:xfrm>
          <a:prstGeom prst="roundRect">
            <a:avLst>
              <a:gd name="adj" fmla="val 2203"/>
            </a:avLst>
          </a:prstGeom>
          <a:solidFill>
            <a:srgbClr val="F6E0ED"/>
          </a:solidFill>
          <a:ln w="12700">
            <a:solidFill>
              <a:srgbClr val="F6E0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45510" y="4158966"/>
            <a:ext cx="2883059" cy="2392098"/>
          </a:xfrm>
          <a:prstGeom prst="roundRect">
            <a:avLst>
              <a:gd name="adj" fmla="val 2203"/>
            </a:avLst>
          </a:prstGeom>
          <a:solidFill>
            <a:srgbClr val="FCEFCC"/>
          </a:solidFill>
          <a:ln w="12700">
            <a:solidFill>
              <a:srgbClr val="FCEFC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7914" y="3422866"/>
            <a:ext cx="2649961" cy="0"/>
          </a:xfrm>
          <a:prstGeom prst="line">
            <a:avLst/>
          </a:prstGeom>
          <a:noFill/>
          <a:ln w="15875">
            <a:solidFill>
              <a:srgbClr val="C7D8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278" y="1251370"/>
            <a:ext cx="355782" cy="355782"/>
          </a:xfrm>
          <a:prstGeom prst="ellipse">
            <a:avLst/>
          </a:prstGeom>
          <a:solidFill>
            <a:srgbClr val="8ABBD9"/>
          </a:solidFill>
          <a:ln w="12700">
            <a:solidFill>
              <a:srgbClr val="8ABBD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4167" y="1239102"/>
            <a:ext cx="355782" cy="355782"/>
          </a:xfrm>
          <a:prstGeom prst="ellipse">
            <a:avLst/>
          </a:prstGeom>
          <a:solidFill>
            <a:srgbClr val="88CBA8"/>
          </a:solidFill>
          <a:ln w="12700">
            <a:solidFill>
              <a:srgbClr val="88CBA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16" y="4109894"/>
            <a:ext cx="343513" cy="343513"/>
          </a:xfrm>
          <a:prstGeom prst="ellipse">
            <a:avLst/>
          </a:prstGeom>
          <a:solidFill>
            <a:srgbClr val="D79CCB"/>
          </a:solidFill>
          <a:ln w="12700">
            <a:solidFill>
              <a:srgbClr val="D79CC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0973" y="4134430"/>
            <a:ext cx="331245" cy="331245"/>
          </a:xfrm>
          <a:prstGeom prst="ellipse">
            <a:avLst/>
          </a:prstGeom>
          <a:solidFill>
            <a:srgbClr val="F1C85D"/>
          </a:solidFill>
          <a:ln w="12700">
            <a:solidFill>
              <a:srgbClr val="F1C85D">
                <a:alpha val="0"/>
              </a:srgbClr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438855"/>
              </p:ext>
            </p:extLst>
          </p:nvPr>
        </p:nvGraphicFramePr>
        <p:xfrm>
          <a:off x="6437129" y="1533541"/>
          <a:ext cx="5962411" cy="4956409"/>
        </p:xfrm>
        <a:graphic>
          <a:graphicData uri="http://schemas.openxmlformats.org/drawingml/2006/table">
            <a:tbl>
              <a:tblPr/>
              <a:tblGrid>
                <a:gridCol w="2932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1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8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RISK</a:t>
                      </a:r>
                      <a:endParaRPr lang="en-US" sz="14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3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SOLUTION/MITIGATION</a:t>
                      </a:r>
                      <a:endParaRPr lang="en-US" sz="14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50653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9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POOR FIELD CONNECTIVITY: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28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Unstable/limited internet in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3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remote areas.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0142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D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OFFLINE-FIRST APP, AUTO-SYNC,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CONFLICT RULES.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37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007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Local storage, predefined resolution rules.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1393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3E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7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 DIGITAL LITERACY: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70"/>
                        </a:spcBef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Users uncomfortable with</a:t>
                      </a:r>
                      <a:endParaRPr lang="en-US" sz="12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b="0" dirty="0">
                          <a:solidFill>
                            <a:srgbClr val="0A03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complex systems.</a:t>
                      </a:r>
                      <a:endParaRPr lang="en-US" sz="12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0142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D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MOBILE-FIRST, REGIONAL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LANGUAGES, OTP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SMS/WHATSAPP, HELPDESK.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109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Adoptions as a *design* problem.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9920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E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5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CERTIFICATE FORGERY: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21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6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copying, altering, or falsely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6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representing.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0142" marR="127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CC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SIGNED QR, PUBLIC VERIFICATION,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9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SERIAL-LINKED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9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PHYSICAL STAMP.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00A0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Digital +Physical traceability combined.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9125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78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STATE-WISE RULE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DIFFERENCES: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solidFill>
                            <a:srgbClr val="0200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Workflows, fees, jurisdictions,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200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structures differ.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99347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2C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20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CONFIGURABLE WORKFLOW,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320"/>
                        </a:spcBef>
                        <a:buNone/>
                      </a:pPr>
                      <a:r>
                        <a:rPr lang="en-US" sz="900" b="1" dirty="0">
                          <a:solidFill>
                            <a:srgbClr val="00020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FEE MASTERS,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20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JURISDICTION MASTERS.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006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Common platform, configurable rules.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1393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E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1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PRIVACY &amp; SECURITY: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C00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handling sensitive user/admin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0B0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information.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811615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CA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ROLE-BASED ACCESS CONTROL (RBAC),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900" b="0" dirty="0">
                          <a:solidFill>
                            <a:srgbClr val="11111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 TRAILS, DPDP-ALIGNED DESIGN,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50"/>
                        </a:spcBef>
                        <a:buNone/>
                      </a:pPr>
                      <a:r>
                        <a:rPr lang="en-US" sz="900" b="0" dirty="0">
                          <a:solidFill>
                            <a:srgbClr val="0600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VAPT. Accountability and risk check.</a:t>
                      </a:r>
                      <a:endParaRPr lang="en-US" sz="1100" b="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l">
                        <a:spcBef>
                          <a:spcPts val="150"/>
                        </a:spcBef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9125" marR="1905" marT="1905" marB="190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D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33" y="1386323"/>
            <a:ext cx="723832" cy="613417"/>
          </a:xfrm>
          <a:prstGeom prst="rect">
            <a:avLst/>
          </a:prstGeom>
        </p:spPr>
      </p:pic>
      <p:pic>
        <p:nvPicPr>
          <p:cNvPr id="14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877" y="4306186"/>
            <a:ext cx="613417" cy="601148"/>
          </a:xfrm>
          <a:prstGeom prst="rect">
            <a:avLst/>
          </a:prstGeom>
        </p:spPr>
      </p:pic>
      <p:pic>
        <p:nvPicPr>
          <p:cNvPr id="15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949" y="1423127"/>
            <a:ext cx="601148" cy="588880"/>
          </a:xfrm>
          <a:prstGeom prst="rect">
            <a:avLst/>
          </a:prstGeom>
        </p:spPr>
      </p:pic>
      <p:pic>
        <p:nvPicPr>
          <p:cNvPr id="16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1678" y="4453406"/>
            <a:ext cx="552075" cy="515270"/>
          </a:xfrm>
          <a:prstGeom prst="rect">
            <a:avLst/>
          </a:prstGeom>
        </p:spPr>
      </p:pic>
      <p:pic>
        <p:nvPicPr>
          <p:cNvPr id="17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619" y="3962901"/>
            <a:ext cx="441660" cy="588880"/>
          </a:xfrm>
          <a:prstGeom prst="rect">
            <a:avLst/>
          </a:prstGeom>
        </p:spPr>
      </p:pic>
      <p:pic>
        <p:nvPicPr>
          <p:cNvPr id="18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4562" y="4888932"/>
            <a:ext cx="503002" cy="515270"/>
          </a:xfrm>
          <a:prstGeom prst="rect">
            <a:avLst/>
          </a:prstGeom>
        </p:spPr>
      </p:pic>
      <p:pic>
        <p:nvPicPr>
          <p:cNvPr id="19" name="Image 6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9814" y="3153191"/>
            <a:ext cx="576612" cy="441660"/>
          </a:xfrm>
          <a:prstGeom prst="rect">
            <a:avLst/>
          </a:prstGeom>
        </p:spPr>
      </p:pic>
      <p:pic>
        <p:nvPicPr>
          <p:cNvPr id="20" name="Image 7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549" y="4453407"/>
            <a:ext cx="478465" cy="490733"/>
          </a:xfrm>
          <a:prstGeom prst="rect">
            <a:avLst/>
          </a:prstGeom>
        </p:spPr>
      </p:pic>
      <p:pic>
        <p:nvPicPr>
          <p:cNvPr id="21" name="Image 8" descr="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082" y="2282140"/>
            <a:ext cx="527538" cy="429392"/>
          </a:xfrm>
          <a:prstGeom prst="rect">
            <a:avLst/>
          </a:prstGeom>
        </p:spPr>
      </p:pic>
      <p:pic>
        <p:nvPicPr>
          <p:cNvPr id="22" name="Image 9" descr="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3424" y="5790655"/>
            <a:ext cx="404855" cy="503002"/>
          </a:xfrm>
          <a:prstGeom prst="rect">
            <a:avLst/>
          </a:prstGeom>
        </p:spPr>
      </p:pic>
      <p:pic>
        <p:nvPicPr>
          <p:cNvPr id="23" name="Image 10" descr="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46841" y="1619422"/>
            <a:ext cx="417123" cy="380318"/>
          </a:xfrm>
          <a:prstGeom prst="rect">
            <a:avLst/>
          </a:prstGeom>
        </p:spPr>
      </p:pic>
      <p:pic>
        <p:nvPicPr>
          <p:cNvPr id="24" name="Image 11" descr="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1019" y="1582617"/>
            <a:ext cx="368050" cy="417123"/>
          </a:xfrm>
          <a:prstGeom prst="rect">
            <a:avLst/>
          </a:prstGeom>
        </p:spPr>
      </p:pic>
      <p:pic>
        <p:nvPicPr>
          <p:cNvPr id="25" name="Image 12" descr="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57073" y="1570348"/>
            <a:ext cx="294440" cy="466197"/>
          </a:xfrm>
          <a:prstGeom prst="rect">
            <a:avLst/>
          </a:prstGeom>
        </p:spPr>
      </p:pic>
      <p:pic>
        <p:nvPicPr>
          <p:cNvPr id="26" name="Image 13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060" y="4355259"/>
            <a:ext cx="220830" cy="588880"/>
          </a:xfrm>
          <a:prstGeom prst="rect">
            <a:avLst/>
          </a:prstGeom>
        </p:spPr>
      </p:pic>
      <p:pic>
        <p:nvPicPr>
          <p:cNvPr id="27" name="Image 14" descr="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3144" y="5839728"/>
            <a:ext cx="294440" cy="306708"/>
          </a:xfrm>
          <a:prstGeom prst="rect">
            <a:avLst/>
          </a:prstGeom>
        </p:spPr>
      </p:pic>
      <p:pic>
        <p:nvPicPr>
          <p:cNvPr id="28" name="Image 15" descr="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3144" y="6207778"/>
            <a:ext cx="294440" cy="282172"/>
          </a:xfrm>
          <a:prstGeom prst="rect">
            <a:avLst/>
          </a:prstGeom>
        </p:spPr>
      </p:pic>
      <p:pic>
        <p:nvPicPr>
          <p:cNvPr id="29" name="Image 16" descr="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75162" y="2809450"/>
            <a:ext cx="306708" cy="257635"/>
          </a:xfrm>
          <a:prstGeom prst="rect">
            <a:avLst/>
          </a:prstGeom>
        </p:spPr>
      </p:pic>
      <p:pic>
        <p:nvPicPr>
          <p:cNvPr id="30" name="Image 17" descr="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41802" y="2429132"/>
            <a:ext cx="306708" cy="257635"/>
          </a:xfrm>
          <a:prstGeom prst="rect">
            <a:avLst/>
          </a:prstGeom>
        </p:spPr>
      </p:pic>
      <p:pic>
        <p:nvPicPr>
          <p:cNvPr id="31" name="Image 18" descr="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0182" y="3140695"/>
            <a:ext cx="282172" cy="269903"/>
          </a:xfrm>
          <a:prstGeom prst="rect">
            <a:avLst/>
          </a:prstGeom>
        </p:spPr>
      </p:pic>
      <p:pic>
        <p:nvPicPr>
          <p:cNvPr id="32" name="Image 19" descr="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0183" y="2784912"/>
            <a:ext cx="269903" cy="282172"/>
          </a:xfrm>
          <a:prstGeom prst="rect">
            <a:avLst/>
          </a:prstGeom>
        </p:spPr>
      </p:pic>
      <p:pic>
        <p:nvPicPr>
          <p:cNvPr id="33" name="Image 20" descr="ic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87430" y="2441400"/>
            <a:ext cx="282172" cy="269903"/>
          </a:xfrm>
          <a:prstGeom prst="rect">
            <a:avLst/>
          </a:prstGeom>
        </p:spPr>
      </p:pic>
      <p:pic>
        <p:nvPicPr>
          <p:cNvPr id="34" name="Image 21" descr="icon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87614" y="3165231"/>
            <a:ext cx="257635" cy="282172"/>
          </a:xfrm>
          <a:prstGeom prst="rect">
            <a:avLst/>
          </a:prstGeom>
        </p:spPr>
      </p:pic>
      <p:pic>
        <p:nvPicPr>
          <p:cNvPr id="35" name="Image 22" descr="ico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66340" y="3202037"/>
            <a:ext cx="269903" cy="257635"/>
          </a:xfrm>
          <a:prstGeom prst="rect">
            <a:avLst/>
          </a:prstGeom>
        </p:spPr>
      </p:pic>
      <p:pic>
        <p:nvPicPr>
          <p:cNvPr id="36" name="Image 23" descr="icon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75344" y="2809450"/>
            <a:ext cx="282172" cy="245367"/>
          </a:xfrm>
          <a:prstGeom prst="rect">
            <a:avLst/>
          </a:prstGeom>
        </p:spPr>
      </p:pic>
      <p:pic>
        <p:nvPicPr>
          <p:cNvPr id="37" name="Image 24" descr="icon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615412" y="5263117"/>
            <a:ext cx="282172" cy="245367"/>
          </a:xfrm>
          <a:prstGeom prst="rect">
            <a:avLst/>
          </a:prstGeom>
        </p:spPr>
      </p:pic>
      <p:pic>
        <p:nvPicPr>
          <p:cNvPr id="38" name="Image 25" descr="icon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66340" y="2919865"/>
            <a:ext cx="257635" cy="257635"/>
          </a:xfrm>
          <a:prstGeom prst="rect">
            <a:avLst/>
          </a:prstGeom>
        </p:spPr>
      </p:pic>
      <p:pic>
        <p:nvPicPr>
          <p:cNvPr id="39" name="Image 26" descr="icon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41803" y="3655965"/>
            <a:ext cx="269903" cy="245367"/>
          </a:xfrm>
          <a:prstGeom prst="rect">
            <a:avLst/>
          </a:prstGeom>
        </p:spPr>
      </p:pic>
      <p:pic>
        <p:nvPicPr>
          <p:cNvPr id="40" name="Image 27" descr="icon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627682" y="5520752"/>
            <a:ext cx="245367" cy="269903"/>
          </a:xfrm>
          <a:prstGeom prst="rect">
            <a:avLst/>
          </a:prstGeom>
        </p:spPr>
      </p:pic>
      <p:pic>
        <p:nvPicPr>
          <p:cNvPr id="41" name="Image 28" descr="icon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4718" y="2429131"/>
            <a:ext cx="233098" cy="282172"/>
          </a:xfrm>
          <a:prstGeom prst="rect">
            <a:avLst/>
          </a:prstGeom>
        </p:spPr>
      </p:pic>
      <p:pic>
        <p:nvPicPr>
          <p:cNvPr id="42" name="Image 29" descr="icon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9881" y="2429132"/>
            <a:ext cx="233098" cy="269903"/>
          </a:xfrm>
          <a:prstGeom prst="rect">
            <a:avLst/>
          </a:prstGeom>
        </p:spPr>
      </p:pic>
      <p:pic>
        <p:nvPicPr>
          <p:cNvPr id="43" name="Image 30" descr="icon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37913" y="3643696"/>
            <a:ext cx="220830" cy="282172"/>
          </a:xfrm>
          <a:prstGeom prst="rect">
            <a:avLst/>
          </a:prstGeom>
        </p:spPr>
      </p:pic>
      <p:sp>
        <p:nvSpPr>
          <p:cNvPr id="44" name="Text 10"/>
          <p:cNvSpPr txBox="1"/>
          <p:nvPr/>
        </p:nvSpPr>
        <p:spPr>
          <a:xfrm>
            <a:off x="302962" y="932623"/>
            <a:ext cx="5618440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PHASES: </a:t>
            </a:r>
            <a:r>
              <a:rPr lang="en-US" sz="15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GROWTH STRATEGY</a:t>
            </a:r>
            <a:endParaRPr lang="en-US" sz="1570" dirty="0"/>
          </a:p>
        </p:txBody>
      </p:sp>
      <p:sp>
        <p:nvSpPr>
          <p:cNvPr id="46" name="Text 12"/>
          <p:cNvSpPr txBox="1"/>
          <p:nvPr/>
        </p:nvSpPr>
        <p:spPr>
          <a:xfrm>
            <a:off x="1370308" y="1521274"/>
            <a:ext cx="1852061" cy="45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42"/>
              </a:lnSpc>
            </a:pPr>
            <a:r>
              <a:rPr lang="en-US" sz="11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PROVE</a:t>
            </a:r>
            <a:endParaRPr lang="en-US" sz="1170" dirty="0"/>
          </a:p>
          <a:p>
            <a:pPr>
              <a:lnSpc>
                <a:spcPts val="1642"/>
              </a:lnSpc>
            </a:pPr>
            <a:r>
              <a:rPr lang="en-US" sz="11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</a:t>
            </a:r>
            <a:endParaRPr lang="en-US" sz="1170" dirty="0"/>
          </a:p>
        </p:txBody>
      </p:sp>
      <p:sp>
        <p:nvSpPr>
          <p:cNvPr id="47" name="Text 13"/>
          <p:cNvSpPr txBox="1"/>
          <p:nvPr/>
        </p:nvSpPr>
        <p:spPr>
          <a:xfrm>
            <a:off x="474718" y="2098116"/>
            <a:ext cx="2637692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20" dirty="0">
                <a:solidFill>
                  <a:srgbClr val="000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 basic end-to-end system.</a:t>
            </a:r>
            <a:endParaRPr lang="en-US" sz="1220" dirty="0"/>
          </a:p>
        </p:txBody>
      </p:sp>
      <p:sp>
        <p:nvSpPr>
          <p:cNvPr id="48" name="Text 14"/>
          <p:cNvSpPr txBox="1"/>
          <p:nvPr/>
        </p:nvSpPr>
        <p:spPr>
          <a:xfrm>
            <a:off x="744622" y="2417091"/>
            <a:ext cx="870594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0" dirty="0">
                <a:solidFill>
                  <a:srgbClr val="000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1150" dirty="0"/>
          </a:p>
        </p:txBody>
      </p:sp>
      <p:sp>
        <p:nvSpPr>
          <p:cNvPr id="49" name="Text 15"/>
          <p:cNvSpPr txBox="1"/>
          <p:nvPr/>
        </p:nvSpPr>
        <p:spPr>
          <a:xfrm>
            <a:off x="2081871" y="2404594"/>
            <a:ext cx="1128229" cy="45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6"/>
              </a:lnSpc>
            </a:pPr>
            <a:r>
              <a:rPr lang="en-US" sz="1070" dirty="0">
                <a:solidFill>
                  <a:srgbClr val="00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Workflow</a:t>
            </a:r>
            <a:endParaRPr lang="en-US" sz="1070" dirty="0"/>
          </a:p>
          <a:p>
            <a:pPr>
              <a:lnSpc>
                <a:spcPts val="1546"/>
              </a:lnSpc>
            </a:pPr>
            <a:r>
              <a:rPr lang="en-US" sz="1070" dirty="0">
                <a:solidFill>
                  <a:srgbClr val="00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070" dirty="0"/>
          </a:p>
        </p:txBody>
      </p:sp>
      <p:sp>
        <p:nvSpPr>
          <p:cNvPr id="50" name="Text 16"/>
          <p:cNvSpPr txBox="1"/>
          <p:nvPr/>
        </p:nvSpPr>
        <p:spPr>
          <a:xfrm>
            <a:off x="732353" y="2711532"/>
            <a:ext cx="674300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0" dirty="0">
                <a:solidFill>
                  <a:srgbClr val="000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080" dirty="0"/>
          </a:p>
        </p:txBody>
      </p:sp>
      <p:sp>
        <p:nvSpPr>
          <p:cNvPr id="51" name="Text 17"/>
          <p:cNvSpPr txBox="1"/>
          <p:nvPr/>
        </p:nvSpPr>
        <p:spPr>
          <a:xfrm>
            <a:off x="744623" y="2871021"/>
            <a:ext cx="846057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80" dirty="0">
                <a:solidFill>
                  <a:srgbClr val="000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180" dirty="0"/>
          </a:p>
        </p:txBody>
      </p:sp>
      <p:sp>
        <p:nvSpPr>
          <p:cNvPr id="52" name="Text 18"/>
          <p:cNvSpPr txBox="1"/>
          <p:nvPr/>
        </p:nvSpPr>
        <p:spPr>
          <a:xfrm>
            <a:off x="744623" y="3153191"/>
            <a:ext cx="1287717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dirty="0">
                <a:solidFill>
                  <a:srgbClr val="000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Dashboard</a:t>
            </a:r>
            <a:endParaRPr lang="en-US" sz="1100" dirty="0"/>
          </a:p>
        </p:txBody>
      </p:sp>
      <p:sp>
        <p:nvSpPr>
          <p:cNvPr id="53" name="Text 19"/>
          <p:cNvSpPr txBox="1"/>
          <p:nvPr/>
        </p:nvSpPr>
        <p:spPr>
          <a:xfrm>
            <a:off x="2057335" y="2821947"/>
            <a:ext cx="1214107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50" dirty="0">
                <a:solidFill>
                  <a:srgbClr val="00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Page</a:t>
            </a:r>
            <a:endParaRPr lang="en-US" sz="1150" dirty="0"/>
          </a:p>
        </p:txBody>
      </p:sp>
      <p:sp>
        <p:nvSpPr>
          <p:cNvPr id="54" name="Text 20"/>
          <p:cNvSpPr txBox="1"/>
          <p:nvPr/>
        </p:nvSpPr>
        <p:spPr>
          <a:xfrm>
            <a:off x="180278" y="1214794"/>
            <a:ext cx="355782" cy="428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80" dirty="0"/>
          </a:p>
        </p:txBody>
      </p:sp>
      <p:sp>
        <p:nvSpPr>
          <p:cNvPr id="55" name="Text 21"/>
          <p:cNvSpPr txBox="1"/>
          <p:nvPr/>
        </p:nvSpPr>
        <p:spPr>
          <a:xfrm>
            <a:off x="3284167" y="1202526"/>
            <a:ext cx="355782" cy="428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8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80" dirty="0"/>
          </a:p>
        </p:txBody>
      </p:sp>
      <p:sp>
        <p:nvSpPr>
          <p:cNvPr id="56" name="Text 22"/>
          <p:cNvSpPr txBox="1"/>
          <p:nvPr/>
        </p:nvSpPr>
        <p:spPr>
          <a:xfrm>
            <a:off x="4425124" y="1509006"/>
            <a:ext cx="1802987" cy="47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49"/>
              </a:lnSpc>
            </a:pPr>
            <a:r>
              <a:rPr lang="en-US" sz="11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REAL-WORLD</a:t>
            </a:r>
            <a:endParaRPr lang="en-US" sz="1190" dirty="0"/>
          </a:p>
          <a:p>
            <a:pPr>
              <a:lnSpc>
                <a:spcPts val="1449"/>
              </a:lnSpc>
            </a:pPr>
            <a:r>
              <a:rPr lang="en-US" sz="11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1190" dirty="0"/>
          </a:p>
        </p:txBody>
      </p:sp>
      <p:sp>
        <p:nvSpPr>
          <p:cNvPr id="57" name="Text 23"/>
          <p:cNvSpPr txBox="1"/>
          <p:nvPr/>
        </p:nvSpPr>
        <p:spPr>
          <a:xfrm>
            <a:off x="3517266" y="2098116"/>
            <a:ext cx="2330984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40" dirty="0">
                <a:solidFill>
                  <a:srgbClr val="00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for actual field usage</a:t>
            </a:r>
            <a:endParaRPr lang="en-US" sz="1240" dirty="0"/>
          </a:p>
        </p:txBody>
      </p:sp>
      <p:sp>
        <p:nvSpPr>
          <p:cNvPr id="58" name="Text 24"/>
          <p:cNvSpPr txBox="1"/>
          <p:nvPr/>
        </p:nvSpPr>
        <p:spPr>
          <a:xfrm>
            <a:off x="3860779" y="2404823"/>
            <a:ext cx="1250912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40" dirty="0">
                <a:solidFill>
                  <a:srgbClr val="000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App (local</a:t>
            </a:r>
            <a:endParaRPr lang="en-US" sz="1020" dirty="0"/>
          </a:p>
        </p:txBody>
      </p:sp>
      <p:sp>
        <p:nvSpPr>
          <p:cNvPr id="59" name="Text 25"/>
          <p:cNvSpPr txBox="1"/>
          <p:nvPr/>
        </p:nvSpPr>
        <p:spPr>
          <a:xfrm>
            <a:off x="3860780" y="2527506"/>
            <a:ext cx="1361327" cy="30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90" dirty="0">
                <a:solidFill>
                  <a:srgbClr val="000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storage, sync when</a:t>
            </a:r>
            <a:endParaRPr lang="en-US" sz="1020" dirty="0"/>
          </a:p>
        </p:txBody>
      </p:sp>
      <p:sp>
        <p:nvSpPr>
          <p:cNvPr id="60" name="Text 26"/>
          <p:cNvSpPr txBox="1"/>
          <p:nvPr/>
        </p:nvSpPr>
        <p:spPr>
          <a:xfrm>
            <a:off x="3860780" y="2723801"/>
            <a:ext cx="833789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20" dirty="0">
                <a:solidFill>
                  <a:srgbClr val="0008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connected)</a:t>
            </a:r>
            <a:endParaRPr lang="en-US" sz="1020" dirty="0"/>
          </a:p>
        </p:txBody>
      </p:sp>
      <p:sp>
        <p:nvSpPr>
          <p:cNvPr id="61" name="Text 27"/>
          <p:cNvSpPr txBox="1"/>
          <p:nvPr/>
        </p:nvSpPr>
        <p:spPr>
          <a:xfrm>
            <a:off x="3836243" y="2932362"/>
            <a:ext cx="809252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30" dirty="0">
                <a:solidFill>
                  <a:srgbClr val="000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130" dirty="0"/>
          </a:p>
        </p:txBody>
      </p:sp>
      <p:sp>
        <p:nvSpPr>
          <p:cNvPr id="62" name="Text 28"/>
          <p:cNvSpPr txBox="1"/>
          <p:nvPr/>
        </p:nvSpPr>
        <p:spPr>
          <a:xfrm>
            <a:off x="5369786" y="2453896"/>
            <a:ext cx="490275" cy="220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40" b="1" dirty="0">
                <a:solidFill>
                  <a:srgbClr val="000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40" dirty="0"/>
          </a:p>
        </p:txBody>
      </p:sp>
      <p:sp>
        <p:nvSpPr>
          <p:cNvPr id="63" name="Text 29"/>
          <p:cNvSpPr txBox="1"/>
          <p:nvPr/>
        </p:nvSpPr>
        <p:spPr>
          <a:xfrm>
            <a:off x="5369785" y="2821717"/>
            <a:ext cx="735642" cy="37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2"/>
              </a:lnSpc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as</a:t>
            </a:r>
            <a:endParaRPr lang="en-US" sz="1120" dirty="0"/>
          </a:p>
          <a:p>
            <a:pPr>
              <a:lnSpc>
                <a:spcPts val="1352"/>
              </a:lnSpc>
            </a:pPr>
            <a:r>
              <a:rPr lang="en-US" sz="1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20" dirty="0"/>
          </a:p>
        </p:txBody>
      </p:sp>
      <p:sp>
        <p:nvSpPr>
          <p:cNvPr id="64" name="Text 30"/>
          <p:cNvSpPr txBox="1"/>
          <p:nvPr/>
        </p:nvSpPr>
        <p:spPr>
          <a:xfrm>
            <a:off x="5369786" y="3189997"/>
            <a:ext cx="833789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10" dirty="0">
                <a:solidFill>
                  <a:srgbClr val="000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110" dirty="0"/>
          </a:p>
        </p:txBody>
      </p:sp>
      <p:sp>
        <p:nvSpPr>
          <p:cNvPr id="65" name="Text 31"/>
          <p:cNvSpPr txBox="1"/>
          <p:nvPr/>
        </p:nvSpPr>
        <p:spPr>
          <a:xfrm>
            <a:off x="3848512" y="3214533"/>
            <a:ext cx="478007" cy="220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10" dirty="0"/>
          </a:p>
        </p:txBody>
      </p:sp>
      <p:sp>
        <p:nvSpPr>
          <p:cNvPr id="66" name="Text 32"/>
          <p:cNvSpPr txBox="1"/>
          <p:nvPr/>
        </p:nvSpPr>
        <p:spPr>
          <a:xfrm>
            <a:off x="671012" y="3582583"/>
            <a:ext cx="1079156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FEASIBLE:</a:t>
            </a:r>
            <a:endParaRPr lang="en-US" sz="970" dirty="0"/>
          </a:p>
        </p:txBody>
      </p:sp>
      <p:sp>
        <p:nvSpPr>
          <p:cNvPr id="67" name="Text 33"/>
          <p:cNvSpPr txBox="1"/>
          <p:nvPr/>
        </p:nvSpPr>
        <p:spPr>
          <a:xfrm>
            <a:off x="1677016" y="3582583"/>
            <a:ext cx="1508547" cy="23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40" dirty="0">
                <a:solidFill>
                  <a:srgbClr val="0007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web/mobile</a:t>
            </a:r>
            <a:endParaRPr lang="en-US" sz="1040" dirty="0"/>
          </a:p>
        </p:txBody>
      </p:sp>
      <p:sp>
        <p:nvSpPr>
          <p:cNvPr id="68" name="Text 34"/>
          <p:cNvSpPr txBox="1"/>
          <p:nvPr/>
        </p:nvSpPr>
        <p:spPr>
          <a:xfrm>
            <a:off x="695549" y="3754341"/>
            <a:ext cx="2379599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40" dirty="0">
                <a:solidFill>
                  <a:srgbClr val="000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capabilities, existing technologies.</a:t>
            </a:r>
            <a:endParaRPr lang="en-US" sz="1040" dirty="0"/>
          </a:p>
        </p:txBody>
      </p:sp>
      <p:sp>
        <p:nvSpPr>
          <p:cNvPr id="69" name="Text 35"/>
          <p:cNvSpPr txBox="1"/>
          <p:nvPr/>
        </p:nvSpPr>
        <p:spPr>
          <a:xfrm>
            <a:off x="3811707" y="3606891"/>
            <a:ext cx="2134233" cy="42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2"/>
              </a:lnSpc>
            </a:pPr>
            <a:r>
              <a:rPr lang="en-US" sz="940" b="1" dirty="0">
                <a:solidFill>
                  <a:srgbClr val="000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CONNECTIVITY GAP</a:t>
            </a:r>
            <a:endParaRPr lang="en-US" sz="940" dirty="0"/>
          </a:p>
          <a:p>
            <a:pPr>
              <a:lnSpc>
                <a:spcPts val="1352"/>
              </a:lnSpc>
            </a:pPr>
            <a:r>
              <a:rPr lang="en-US" sz="940" b="1" dirty="0">
                <a:solidFill>
                  <a:srgbClr val="000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RURAL AREAS.</a:t>
            </a:r>
            <a:endParaRPr lang="en-US" sz="940" dirty="0"/>
          </a:p>
        </p:txBody>
      </p:sp>
      <p:sp>
        <p:nvSpPr>
          <p:cNvPr id="70" name="Text 36"/>
          <p:cNvSpPr txBox="1"/>
          <p:nvPr/>
        </p:nvSpPr>
        <p:spPr>
          <a:xfrm>
            <a:off x="204816" y="4073318"/>
            <a:ext cx="343513" cy="416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71" name="Text 37"/>
          <p:cNvSpPr txBox="1"/>
          <p:nvPr/>
        </p:nvSpPr>
        <p:spPr>
          <a:xfrm>
            <a:off x="1235356" y="4367529"/>
            <a:ext cx="1582157" cy="63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42"/>
              </a:lnSpc>
            </a:pPr>
            <a:r>
              <a:rPr lang="en-US" sz="11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- VALIDATE</a:t>
            </a:r>
            <a:endParaRPr lang="en-US" sz="1160" dirty="0"/>
          </a:p>
          <a:p>
            <a:pPr>
              <a:lnSpc>
                <a:spcPts val="1642"/>
              </a:lnSpc>
            </a:pPr>
            <a:r>
              <a:rPr lang="en-US" sz="11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FULL</a:t>
            </a:r>
            <a:endParaRPr lang="en-US" sz="1160" dirty="0"/>
          </a:p>
          <a:p>
            <a:pPr>
              <a:lnSpc>
                <a:spcPts val="1642"/>
              </a:lnSpc>
            </a:pPr>
            <a:r>
              <a:rPr lang="en-US" sz="11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60" dirty="0"/>
          </a:p>
        </p:txBody>
      </p:sp>
      <p:sp>
        <p:nvSpPr>
          <p:cNvPr id="72" name="Text 38"/>
          <p:cNvSpPr txBox="1"/>
          <p:nvPr/>
        </p:nvSpPr>
        <p:spPr>
          <a:xfrm>
            <a:off x="425645" y="5017979"/>
            <a:ext cx="2404136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20" dirty="0">
                <a:solidFill>
                  <a:srgbClr val="0900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limited geographical area.</a:t>
            </a:r>
            <a:endParaRPr lang="en-US" sz="1220" dirty="0"/>
          </a:p>
        </p:txBody>
      </p:sp>
      <p:sp>
        <p:nvSpPr>
          <p:cNvPr id="73" name="Text 39"/>
          <p:cNvSpPr txBox="1"/>
          <p:nvPr/>
        </p:nvSpPr>
        <p:spPr>
          <a:xfrm>
            <a:off x="413378" y="5324688"/>
            <a:ext cx="1410401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70" b="1" dirty="0">
                <a:solidFill>
                  <a:srgbClr val="060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Summarizes keys:</a:t>
            </a:r>
            <a:endParaRPr lang="en-US" sz="1170" dirty="0"/>
          </a:p>
        </p:txBody>
      </p:sp>
      <p:sp>
        <p:nvSpPr>
          <p:cNvPr id="74" name="Text 40"/>
          <p:cNvSpPr txBox="1"/>
          <p:nvPr/>
        </p:nvSpPr>
        <p:spPr>
          <a:xfrm>
            <a:off x="499256" y="5520980"/>
            <a:ext cx="895131" cy="220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state</a:t>
            </a:r>
            <a:endParaRPr lang="en-US" sz="1280" dirty="0"/>
          </a:p>
        </p:txBody>
      </p:sp>
      <p:sp>
        <p:nvSpPr>
          <p:cNvPr id="75" name="Text 41"/>
          <p:cNvSpPr txBox="1"/>
          <p:nvPr/>
        </p:nvSpPr>
        <p:spPr>
          <a:xfrm>
            <a:off x="486988" y="5680470"/>
            <a:ext cx="1054619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1-2 districts</a:t>
            </a:r>
            <a:endParaRPr lang="en-US" sz="1300" dirty="0"/>
          </a:p>
        </p:txBody>
      </p:sp>
      <p:sp>
        <p:nvSpPr>
          <p:cNvPr id="76" name="Text 42"/>
          <p:cNvSpPr txBox="1"/>
          <p:nvPr/>
        </p:nvSpPr>
        <p:spPr>
          <a:xfrm>
            <a:off x="486988" y="5852226"/>
            <a:ext cx="2305989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80" dirty="0">
                <a:solidFill>
                  <a:srgbClr val="0A00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UAT (User Acceptance Testing)</a:t>
            </a:r>
            <a:endParaRPr lang="en-US" sz="1180" dirty="0"/>
          </a:p>
        </p:txBody>
      </p:sp>
      <p:sp>
        <p:nvSpPr>
          <p:cNvPr id="77" name="Text 43"/>
          <p:cNvSpPr txBox="1"/>
          <p:nvPr/>
        </p:nvSpPr>
        <p:spPr>
          <a:xfrm>
            <a:off x="486988" y="6036251"/>
            <a:ext cx="1189571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20" dirty="0">
                <a:solidFill>
                  <a:srgbClr val="0C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Audit</a:t>
            </a:r>
            <a:endParaRPr lang="en-US" sz="1220" dirty="0"/>
          </a:p>
        </p:txBody>
      </p:sp>
      <p:sp>
        <p:nvSpPr>
          <p:cNvPr id="78" name="Text 44"/>
          <p:cNvSpPr txBox="1"/>
          <p:nvPr/>
        </p:nvSpPr>
        <p:spPr>
          <a:xfrm>
            <a:off x="425646" y="6306155"/>
            <a:ext cx="2796723" cy="24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100" dirty="0">
                <a:solidFill>
                  <a:srgbClr val="0C0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risk before multi-state expansion.</a:t>
            </a:r>
            <a:endParaRPr lang="en-US" sz="1100" dirty="0"/>
          </a:p>
        </p:txBody>
      </p:sp>
      <p:sp>
        <p:nvSpPr>
          <p:cNvPr id="79" name="Text 45"/>
          <p:cNvSpPr txBox="1"/>
          <p:nvPr/>
        </p:nvSpPr>
        <p:spPr>
          <a:xfrm>
            <a:off x="3320973" y="4097854"/>
            <a:ext cx="331245" cy="4043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4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40" dirty="0"/>
          </a:p>
        </p:txBody>
      </p:sp>
      <p:sp>
        <p:nvSpPr>
          <p:cNvPr id="80" name="Text 46"/>
          <p:cNvSpPr txBox="1"/>
          <p:nvPr/>
        </p:nvSpPr>
        <p:spPr>
          <a:xfrm>
            <a:off x="4314709" y="4404333"/>
            <a:ext cx="1508547" cy="441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6"/>
              </a:lnSpc>
            </a:pPr>
            <a:r>
              <a:rPr lang="en-US" sz="119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- EXPAND</a:t>
            </a:r>
            <a:endParaRPr lang="en-US" sz="1190" dirty="0"/>
          </a:p>
          <a:p>
            <a:pPr>
              <a:lnSpc>
                <a:spcPts val="1546"/>
              </a:lnSpc>
            </a:pPr>
            <a:r>
              <a:rPr lang="en-US" sz="119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STATE-BY-STATE</a:t>
            </a:r>
            <a:endParaRPr lang="en-US" sz="1190" dirty="0"/>
          </a:p>
        </p:txBody>
      </p:sp>
      <p:sp>
        <p:nvSpPr>
          <p:cNvPr id="81" name="Text 47"/>
          <p:cNvSpPr txBox="1"/>
          <p:nvPr/>
        </p:nvSpPr>
        <p:spPr>
          <a:xfrm>
            <a:off x="3541802" y="4981175"/>
            <a:ext cx="2048812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40" dirty="0">
                <a:solidFill>
                  <a:srgbClr val="07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expansion after pilot</a:t>
            </a:r>
            <a:endParaRPr lang="en-US" sz="1240" dirty="0"/>
          </a:p>
        </p:txBody>
      </p:sp>
      <p:sp>
        <p:nvSpPr>
          <p:cNvPr id="82" name="Text 48"/>
          <p:cNvSpPr txBox="1"/>
          <p:nvPr/>
        </p:nvSpPr>
        <p:spPr>
          <a:xfrm>
            <a:off x="3946658" y="5263346"/>
            <a:ext cx="1521274" cy="2694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70" dirty="0">
                <a:solidFill>
                  <a:srgbClr val="07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Multi-state onboarding</a:t>
            </a:r>
            <a:endParaRPr lang="en-US" sz="1170" dirty="0"/>
          </a:p>
        </p:txBody>
      </p:sp>
      <p:sp>
        <p:nvSpPr>
          <p:cNvPr id="83" name="Text 49"/>
          <p:cNvSpPr txBox="1"/>
          <p:nvPr/>
        </p:nvSpPr>
        <p:spPr>
          <a:xfrm>
            <a:off x="3946658" y="5520981"/>
            <a:ext cx="1815714" cy="257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60" dirty="0">
                <a:solidFill>
                  <a:srgbClr val="080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 from legacy</a:t>
            </a:r>
            <a:endParaRPr lang="en-US" sz="1160" dirty="0"/>
          </a:p>
        </p:txBody>
      </p:sp>
      <p:sp>
        <p:nvSpPr>
          <p:cNvPr id="84" name="Text 50"/>
          <p:cNvSpPr txBox="1"/>
          <p:nvPr/>
        </p:nvSpPr>
        <p:spPr>
          <a:xfrm>
            <a:off x="3934389" y="5815191"/>
            <a:ext cx="1827524" cy="441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49"/>
              </a:lnSpc>
            </a:pPr>
            <a:r>
              <a:rPr lang="en-US" sz="1120" dirty="0">
                <a:solidFill>
                  <a:srgbClr val="09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(Usage patterns,</a:t>
            </a:r>
            <a:endParaRPr lang="en-US" sz="1120" dirty="0"/>
          </a:p>
          <a:p>
            <a:pPr>
              <a:lnSpc>
                <a:spcPts val="1449"/>
              </a:lnSpc>
            </a:pPr>
            <a:r>
              <a:rPr lang="en-US" sz="1120" dirty="0">
                <a:solidFill>
                  <a:srgbClr val="090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performance)</a:t>
            </a:r>
            <a:endParaRPr lang="en-US" sz="1120" dirty="0"/>
          </a:p>
        </p:txBody>
      </p:sp>
      <p:sp>
        <p:nvSpPr>
          <p:cNvPr id="85" name="Text 51"/>
          <p:cNvSpPr txBox="1"/>
          <p:nvPr/>
        </p:nvSpPr>
        <p:spPr>
          <a:xfrm>
            <a:off x="3946658" y="6195739"/>
            <a:ext cx="1324980" cy="2939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180" dirty="0">
                <a:solidFill>
                  <a:srgbClr val="0E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scaling</a:t>
            </a:r>
            <a:endParaRPr lang="en-US" sz="1180" dirty="0"/>
          </a:p>
        </p:txBody>
      </p:sp>
      <p:sp>
        <p:nvSpPr>
          <p:cNvPr id="86" name="Text 52"/>
          <p:cNvSpPr txBox="1"/>
          <p:nvPr/>
        </p:nvSpPr>
        <p:spPr>
          <a:xfrm>
            <a:off x="6424861" y="932623"/>
            <a:ext cx="4170776" cy="2939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MITIGATION STRATEGIES:</a:t>
            </a:r>
            <a:endParaRPr lang="en-US" sz="1620" dirty="0"/>
          </a:p>
        </p:txBody>
      </p:sp>
      <p:sp>
        <p:nvSpPr>
          <p:cNvPr id="87" name="Text 53"/>
          <p:cNvSpPr txBox="1"/>
          <p:nvPr/>
        </p:nvSpPr>
        <p:spPr>
          <a:xfrm>
            <a:off x="6424862" y="1214794"/>
            <a:ext cx="3594165" cy="2817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FEASIBILITY ADDRESS</a:t>
            </a:r>
            <a:endParaRPr lang="en-US" sz="1580" dirty="0"/>
          </a:p>
        </p:txBody>
      </p:sp>
      <p:sp>
        <p:nvSpPr>
          <p:cNvPr id="88" name="Shape 3">
            <a:extLst>
              <a:ext uri="{FF2B5EF4-FFF2-40B4-BE49-F238E27FC236}">
                <a16:creationId xmlns:a16="http://schemas.microsoft.com/office/drawing/2014/main" id="{1F2AF3EC-2B9E-B783-9D08-09557684722C}"/>
              </a:ext>
            </a:extLst>
          </p:cNvPr>
          <p:cNvSpPr/>
          <p:nvPr/>
        </p:nvSpPr>
        <p:spPr>
          <a:xfrm>
            <a:off x="74" y="6612632"/>
            <a:ext cx="12653319" cy="245368"/>
          </a:xfrm>
          <a:prstGeom prst="rect">
            <a:avLst/>
          </a:prstGeom>
          <a:solidFill>
            <a:srgbClr val="016CB5"/>
          </a:solidFill>
          <a:ln w="12700">
            <a:solidFill>
              <a:srgbClr val="016CB5">
                <a:alpha val="0"/>
              </a:srgbClr>
            </a:solidFill>
            <a:prstDash val="solid"/>
          </a:ln>
        </p:spPr>
      </p:sp>
      <p:sp>
        <p:nvSpPr>
          <p:cNvPr id="90" name="Text 74">
            <a:extLst>
              <a:ext uri="{FF2B5EF4-FFF2-40B4-BE49-F238E27FC236}">
                <a16:creationId xmlns:a16="http://schemas.microsoft.com/office/drawing/2014/main" id="{23FBF1E8-6398-FABE-6E25-C0E3F2E3F8BE}"/>
              </a:ext>
            </a:extLst>
          </p:cNvPr>
          <p:cNvSpPr txBox="1"/>
          <p:nvPr/>
        </p:nvSpPr>
        <p:spPr>
          <a:xfrm>
            <a:off x="5449404" y="6698077"/>
            <a:ext cx="2162432" cy="2219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1200" dirty="0"/>
          </a:p>
          <a:p>
            <a:pPr marL="0" indent="0" algn="ctr">
              <a:buNone/>
            </a:pPr>
            <a:endParaRPr lang="en-US" sz="111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1525B7-25A2-FBB2-6D5E-860AE249541A}"/>
              </a:ext>
            </a:extLst>
          </p:cNvPr>
          <p:cNvSpPr txBox="1"/>
          <p:nvPr/>
        </p:nvSpPr>
        <p:spPr>
          <a:xfrm>
            <a:off x="180278" y="81277"/>
            <a:ext cx="9712417" cy="126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00000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PROJECT FEASIBILITY &amp; ROLLOUT STRATEGY: </a:t>
            </a:r>
          </a:p>
          <a:p>
            <a:pPr algn="ctr"/>
            <a:r>
              <a:rPr lang="en-US" sz="2400" b="1" dirty="0">
                <a:solidFill>
                  <a:srgbClr val="00000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PROTOTYPE TO NATIONWIDE SCALE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5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EDFC2318-E29D-EC05-C595-730A4109601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231" y="88108"/>
            <a:ext cx="1774636" cy="837950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149091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2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457200"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  <a:ea typeface="ＭＳ Ｐゴシック" pitchFamily="1" charset="-128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                                                                    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40581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 defTabSz="457200" fontAlgn="base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b="1" sz="1100">
                <a:solidFill>
                  <a:srgbClr val="0F172A"/>
                </a:solidFill>
              </a:rPr>
              <a:t>1. Legal Metrology Act, 2009 &amp; General Rules, 2011: </a:t>
            </a:r>
            <a:r>
              <a:rPr b="0" sz="1000">
                <a:solidFill>
                  <a:srgbClr val="475569"/>
                </a:solidFill>
              </a:rPr>
              <a:t>Statutory framework governing verification, inspection checklists, and mandatory stamping periods under the Department of Consumer Affairs, Govt. of India.</a:t>
            </a:r>
            <a:endParaRPr lang="en-US" sz="2800" dirty="0">
              <a:solidFill>
                <a:prstClr val="black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2. OIML International Recommendation R 76-1: </a:t>
            </a:r>
            <a:r>
              <a:rPr b="0" sz="1000">
                <a:solidFill>
                  <a:srgbClr val="475569"/>
                </a:solidFill>
              </a:rPr>
              <a:t>Metrological and technical specifications for Non-Automatic Weighing Instruments (Accuracy Classes I, II, III, IIII, eccentricity, and repeatability tests).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3. Bureau of Indian Standards (BIS) &amp; NPL Traceability: </a:t>
            </a:r>
            <a:r>
              <a:rPr b="0" sz="1000">
                <a:solidFill>
                  <a:srgbClr val="475569"/>
                </a:solidFill>
              </a:rPr>
              <a:t>Guidelines on reference standards, laboratory calibration hierarchy, and GATC verification protocols.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4. Department of Consumer Affairs E-Commerce Guidelines: </a:t>
            </a:r>
            <a:r>
              <a:rPr b="0" sz="1000">
                <a:solidFill>
                  <a:srgbClr val="475569"/>
                </a:solidFill>
              </a:rPr>
              <a:t>Mandates on digital stamping display and consumer verification for commercial trade transactions.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5. Live Working MetraVerify Prototype &amp; Codebase: </a:t>
            </a:r>
            <a:r>
              <a:rPr b="0" sz="1000">
                <a:solidFill>
                  <a:srgbClr val="475569"/>
                </a:solidFill>
              </a:rPr>
              <a:t>Production-tested MERN architecture: https://github.com/Pushkar-8950/Ecommerce-Frontend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200" b="1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79181" y="6356354"/>
            <a:ext cx="3204000" cy="365125"/>
          </a:xfrm>
        </p:spPr>
        <p:txBody>
          <a:bodyPr/>
          <a:lstStyle/>
          <a:p>
            <a:pPr algn="ctr" defTabSz="457200">
              <a:defRPr/>
            </a:pPr>
            <a:r>
              <a:rPr lang="en-US" sz="1200">
                <a:solidFill>
                  <a:prstClr val="white"/>
                </a:solidFill>
                <a:latin typeface="TradeGothic"/>
              </a:rPr>
              <a:t>@SIH Idea submission- Template</a:t>
            </a:r>
            <a:endParaRPr lang="en-US" sz="1200" dirty="0">
              <a:solidFill>
                <a:prstClr val="white"/>
              </a:solidFill>
              <a:latin typeface="TradeGothic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0755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CHEETAH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067" y="1501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82D3BF-8653-E2C0-D585-4DD77D75B018}"/>
              </a:ext>
            </a:extLst>
          </p:cNvPr>
          <p:cNvSpPr txBox="1"/>
          <p:nvPr/>
        </p:nvSpPr>
        <p:spPr>
          <a:xfrm>
            <a:off x="2801074" y="393539"/>
            <a:ext cx="4732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3600" dirty="0"/>
          </a:p>
        </p:txBody>
      </p:sp>
      <p:sp>
        <p:nvSpPr>
          <p:cNvPr id="17411" name="Rounded Rectangle 17410"/>
          <p:cNvSpPr/>
          <p:nvPr/>
        </p:nvSpPr>
        <p:spPr>
          <a:xfrm>
            <a:off x="9692640" y="182880"/>
            <a:ext cx="2286000" cy="365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⚡ TEAM: CHEETAH</a:t>
            </a:r>
          </a:p>
        </p:txBody>
      </p:sp>
    </p:spTree>
    <p:extLst>
      <p:ext uri="{BB962C8B-B14F-4D97-AF65-F5344CB8AC3E}">
        <p14:creationId xmlns:p14="http://schemas.microsoft.com/office/powerpoint/2010/main" val="3749388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1100</Words>
  <Application>Microsoft Office PowerPoint</Application>
  <PresentationFormat>Custom</PresentationFormat>
  <Paragraphs>267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Pushkar Sehrawat</cp:lastModifiedBy>
  <cp:revision>19</cp:revision>
  <dcterms:created xsi:type="dcterms:W3CDTF">2026-09-28T17:06:32Z</dcterms:created>
  <dcterms:modified xsi:type="dcterms:W3CDTF">2026-09-29T11:34:23Z</dcterms:modified>
</cp:coreProperties>
</file>